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338560" cy="9509760"/>
  <p:notesSz cx="9509760" cy="1133856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097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基于协同采样与增量微调的边缘持续学习技术路线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228600" y="640080"/>
            <a:ext cx="10881360" cy="868680"/>
          </a:xfrm>
          <a:prstGeom prst="rect">
            <a:avLst/>
          </a:prstGeom>
          <a:solidFill>
            <a:srgbClr val="F4F5F7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64008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输出与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评价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417320" y="758952"/>
            <a:ext cx="22860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932688"/>
            <a:ext cx="274320" cy="274320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978408"/>
            <a:ext cx="182880" cy="1828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1024128"/>
            <a:ext cx="91440" cy="9144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984248" y="75895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边缘持续学习框架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→ 课题 4 长期运行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0" y="758952"/>
            <a:ext cx="22860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50792" y="1078992"/>
            <a:ext cx="64008" cy="109728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33088" y="987552"/>
            <a:ext cx="64008" cy="201168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15384" y="1042416"/>
            <a:ext cx="64008" cy="146304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14216" y="1188720"/>
            <a:ext cx="30175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07408" y="75895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新任务精度｜历史保持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训练显存｜调用比例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758952"/>
            <a:ext cx="22860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7376" y="978408"/>
            <a:ext cx="292608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06540" y="946404"/>
            <a:ext cx="64008" cy="64008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37376" y="1069848"/>
            <a:ext cx="292608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6812" y="1037844"/>
            <a:ext cx="64008" cy="64008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37376" y="1161288"/>
            <a:ext cx="292608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69964" y="1129284"/>
            <a:ext cx="64008" cy="64008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30568" y="75895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随机｜离线筛选｜本方案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常规 RL｜联合优化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686800" y="758952"/>
            <a:ext cx="22860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9680" y="932688"/>
            <a:ext cx="274320" cy="274320"/>
          </a:xfrm>
          <a:prstGeom prst="blockArc">
            <a:avLst>
              <a:gd name="adj1" fmla="val 1800000"/>
              <a:gd name="adj2" fmla="val 18000000"/>
              <a:gd name="adj3" fmla="val 12500"/>
            </a:avLst>
          </a:prstGeom>
          <a:solidFill>
            <a:srgbClr val="595959"/>
          </a:solidFill>
          <a:ln/>
        </p:spPr>
      </p:sp>
      <p:sp>
        <p:nvSpPr>
          <p:cNvPr id="26" name="Shape 24"/>
          <p:cNvSpPr/>
          <p:nvPr/>
        </p:nvSpPr>
        <p:spPr>
          <a:xfrm rot="6000000">
            <a:off x="9043416" y="886968"/>
            <a:ext cx="128016" cy="109728"/>
          </a:xfrm>
          <a:prstGeom prst="triangle">
            <a:avLst/>
          </a:prstGeom>
          <a:solidFill>
            <a:srgbClr val="59595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253728" y="75895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重校准一致性阈值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→ 研究内容（1）调度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1691640"/>
            <a:ext cx="10881360" cy="1828800"/>
          </a:xfrm>
          <a:prstGeom prst="rect">
            <a:avLst/>
          </a:prstGeom>
          <a:solidFill>
            <a:srgbClr val="F4F5F7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74320" y="1691640"/>
            <a:ext cx="1051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双优势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联合优化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417320" y="1773936"/>
            <a:ext cx="361188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417320" y="181051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组相对策略采样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463040" y="317296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每个输出可含本地作答或卸载行为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636776" y="2276856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00784" y="2340864"/>
            <a:ext cx="54864" cy="54864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35" name="Shape 33"/>
          <p:cNvSpPr/>
          <p:nvPr/>
        </p:nvSpPr>
        <p:spPr>
          <a:xfrm>
            <a:off x="1810512" y="2340864"/>
            <a:ext cx="54864" cy="54864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36" name="Shape 34"/>
          <p:cNvSpPr/>
          <p:nvPr/>
        </p:nvSpPr>
        <p:spPr>
          <a:xfrm flipV="1">
            <a:off x="1783080" y="2212848"/>
            <a:ext cx="0" cy="64008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60220" y="2176272"/>
            <a:ext cx="45720" cy="4572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38" name="Shape 36"/>
          <p:cNvSpPr/>
          <p:nvPr/>
        </p:nvSpPr>
        <p:spPr>
          <a:xfrm>
            <a:off x="2103120" y="2194560"/>
            <a:ext cx="27889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139696" y="2194560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同一输入采样一组输出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554480" y="2651760"/>
            <a:ext cx="106984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591056" y="2651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本地作答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688336" y="2651760"/>
            <a:ext cx="1069848" cy="310896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724912" y="2651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请求云端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822192" y="2651760"/>
            <a:ext cx="106984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858768" y="2651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…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223260" y="2505456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166360" y="1773936"/>
            <a:ext cx="274320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166360" y="18105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双优势计算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303520" y="2176272"/>
            <a:ext cx="1188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340096" y="2176272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任务优势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组内相对得分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583680" y="2176272"/>
            <a:ext cx="1188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620256" y="2176272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协作优势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调用对照预算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303520" y="2743200"/>
            <a:ext cx="2468880" cy="420624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公式 A"/>
              <p:cNvSpPr txBox="1"/>
              <p:nvPr/>
            </p:nvSpPr>
            <p:spPr>
              <a:xfrm>
                <a:off x="5303520" y="2743200"/>
                <a:ext cx="2468880" cy="4206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e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task</m:t>
                          </m:r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050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050" b="0" i="1">
                          <a:latin typeface="Cambria Math" panose="02040503050406030204" pitchFamily="18" charset="0"/>
                        </a:rPr>
                        <m:t>μ</m:t>
                      </m:r>
                      <m:sSub>
                        <m:e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col</m:t>
                          </m:r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54" name="公式 A"/>
              <p:cNvSpPr txBox="1"/>
              <p:nvPr/>
            </p:nvSpPr>
            <p:spPr>
              <a:xfrm>
                <a:off x="5303520" y="2743200"/>
                <a:ext cx="2468880" cy="4206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A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i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 = A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task,i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 + μA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col,i</a:t>
                </a:r>
                <a:endParaRPr lang="en-US" sz="1050" dirty="0"/>
              </a:p>
            </p:txBody>
          </p:sp>
        </mc:Fallback>
      </mc:AlternateContent>
      <p:sp>
        <p:nvSpPr>
          <p:cNvPr id="55" name="Shape 53"/>
          <p:cNvSpPr/>
          <p:nvPr/>
        </p:nvSpPr>
        <p:spPr>
          <a:xfrm>
            <a:off x="5897880" y="2596896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7178040" y="2596896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4892040" y="2807208"/>
            <a:ext cx="41148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8046720" y="1773936"/>
            <a:ext cx="292608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046720" y="1810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预算自适应权重 μ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8092440" y="31729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无需奖励塑形与外部路由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823960" y="2139696"/>
            <a:ext cx="1371600" cy="4572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823960" y="21396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调用超预算？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183880" y="2743200"/>
            <a:ext cx="1234440" cy="420624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220456" y="2743200"/>
            <a:ext cx="1161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增大 μ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收紧卸载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601200" y="2743200"/>
            <a:ext cx="1234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637776" y="2743200"/>
            <a:ext cx="1161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减小 μ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放宽约束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9509760" y="2596896"/>
            <a:ext cx="0" cy="7315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801100" y="2670048"/>
            <a:ext cx="141732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801100" y="2670048"/>
            <a:ext cx="0" cy="7315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10218420" y="2670048"/>
            <a:ext cx="0" cy="7315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71" name="Text 69"/>
          <p:cNvSpPr txBox="1"/>
          <p:nvPr/>
        </p:nvSpPr>
        <p:spPr>
          <a:xfrm>
            <a:off x="8458200" y="23957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是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10241280" y="23957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否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 flipH="1">
            <a:off x="7772400" y="2953512"/>
            <a:ext cx="41148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228600" y="3703320"/>
            <a:ext cx="10881360" cy="1920240"/>
          </a:xfrm>
          <a:prstGeom prst="rect">
            <a:avLst/>
          </a:prstGeom>
          <a:solidFill>
            <a:srgbClr val="F4F5F7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274320" y="3703320"/>
            <a:ext cx="1051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低显存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增量微调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417320" y="3785616"/>
            <a:ext cx="406908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417320" y="382219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激活子空间约束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1463040" y="52760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子空间维度依显存预算设定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554480" y="4133088"/>
            <a:ext cx="1783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591056" y="4133088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常规 LoRA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激活随序列长度增长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3566160" y="4133088"/>
            <a:ext cx="1783080" cy="512064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3602736" y="4133088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激活子空间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显存与序列长度解耦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3337560" y="4389120"/>
            <a:ext cx="22860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1645920" y="4818888"/>
            <a:ext cx="274320" cy="274320"/>
          </a:xfrm>
          <a:prstGeom prst="funnel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011680" y="4754880"/>
            <a:ext cx="14630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2048256" y="4754880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前向投影后保存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反向子空间求梯度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3694176" y="4773168"/>
            <a:ext cx="292608" cy="65837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913632" y="4791456"/>
            <a:ext cx="29261" cy="29261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89" name="Shape 87"/>
          <p:cNvSpPr/>
          <p:nvPr/>
        </p:nvSpPr>
        <p:spPr>
          <a:xfrm>
            <a:off x="3694176" y="4846320"/>
            <a:ext cx="292608" cy="65837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913632" y="4864608"/>
            <a:ext cx="29261" cy="29261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91" name="Shape 89"/>
          <p:cNvSpPr/>
          <p:nvPr/>
        </p:nvSpPr>
        <p:spPr>
          <a:xfrm>
            <a:off x="3694176" y="4919472"/>
            <a:ext cx="292608" cy="65837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913632" y="4937760"/>
            <a:ext cx="29261" cy="29261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3566160" y="50109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服务器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4517136" y="47548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599432" y="4828032"/>
            <a:ext cx="128016" cy="10972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4389120" y="50109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终端</a:t>
            </a:r>
            <a:endParaRPr lang="en-US" sz="950" dirty="0"/>
          </a:p>
        </p:txBody>
      </p:sp>
      <p:sp>
        <p:nvSpPr>
          <p:cNvPr id="97" name="Text 95"/>
          <p:cNvSpPr txBox="1"/>
          <p:nvPr/>
        </p:nvSpPr>
        <p:spPr>
          <a:xfrm>
            <a:off x="3566160" y="515721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高维</a:t>
            </a:r>
            <a:endParaRPr lang="en-US" sz="900" dirty="0"/>
          </a:p>
        </p:txBody>
      </p:sp>
      <p:sp>
        <p:nvSpPr>
          <p:cNvPr id="98" name="Text 96"/>
          <p:cNvSpPr txBox="1"/>
          <p:nvPr/>
        </p:nvSpPr>
        <p:spPr>
          <a:xfrm>
            <a:off x="4389120" y="515721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低维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5623560" y="3785616"/>
            <a:ext cx="324612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5623560" y="382219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模块冻结与版本记录</a:t>
            </a:r>
            <a:endParaRPr lang="en-US" sz="1400" dirty="0"/>
          </a:p>
        </p:txBody>
      </p:sp>
      <p:sp>
        <p:nvSpPr>
          <p:cNvPr id="101" name="Text 99"/>
          <p:cNvSpPr txBox="1"/>
          <p:nvPr/>
        </p:nvSpPr>
        <p:spPr>
          <a:xfrm>
            <a:off x="5669280" y="527608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依据课题 1 统一表征确定模块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5806440" y="4389120"/>
            <a:ext cx="274320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875020" y="4270336"/>
            <a:ext cx="137160" cy="237568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H="1">
            <a:off x="5875020" y="4270336"/>
            <a:ext cx="137160" cy="237568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907024" y="4352544"/>
            <a:ext cx="73152" cy="73152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217920" y="4178808"/>
            <a:ext cx="2514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6254496" y="4178808"/>
            <a:ext cx="2441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主体参数冻结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仅更新少量模块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5870448" y="4837176"/>
            <a:ext cx="201168" cy="256032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815584" y="4882896"/>
            <a:ext cx="20116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852160" y="4946904"/>
            <a:ext cx="128016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852160" y="5001768"/>
            <a:ext cx="128016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852160" y="5056632"/>
            <a:ext cx="128016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217920" y="4773168"/>
            <a:ext cx="2514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6254496" y="4773168"/>
            <a:ext cx="2441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模块参数｜数据批次｜训练配置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与云端版本对齐</a:t>
            </a:r>
            <a:endParaRPr lang="en-US" sz="1050" dirty="0"/>
          </a:p>
        </p:txBody>
      </p:sp>
      <p:sp>
        <p:nvSpPr>
          <p:cNvPr id="115" name="Shape 113"/>
          <p:cNvSpPr/>
          <p:nvPr/>
        </p:nvSpPr>
        <p:spPr>
          <a:xfrm>
            <a:off x="7475220" y="4599432"/>
            <a:ext cx="0" cy="173736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16" name="Shape 114"/>
          <p:cNvSpPr/>
          <p:nvPr/>
        </p:nvSpPr>
        <p:spPr>
          <a:xfrm>
            <a:off x="9006840" y="3785616"/>
            <a:ext cx="196596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9006840" y="38221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版本准入</a:t>
            </a:r>
            <a:endParaRPr lang="en-US" sz="1400" dirty="0"/>
          </a:p>
        </p:txBody>
      </p:sp>
      <p:sp>
        <p:nvSpPr>
          <p:cNvPr id="118" name="Text 116"/>
          <p:cNvSpPr txBox="1"/>
          <p:nvPr/>
        </p:nvSpPr>
        <p:spPr>
          <a:xfrm>
            <a:off x="9052560" y="527608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避免更新损害已有能力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9326880" y="4133088"/>
            <a:ext cx="1325880" cy="51206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9326880" y="4133088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留出集达到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上一版本？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9116568" y="4791456"/>
            <a:ext cx="850392" cy="420624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9153144" y="479145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部署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新版本</a:t>
            </a:r>
            <a:endParaRPr lang="en-US" sz="1050" dirty="0"/>
          </a:p>
        </p:txBody>
      </p:sp>
      <p:sp>
        <p:nvSpPr>
          <p:cNvPr id="123" name="Shape 121"/>
          <p:cNvSpPr/>
          <p:nvPr/>
        </p:nvSpPr>
        <p:spPr>
          <a:xfrm>
            <a:off x="10058400" y="4791456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10094976" y="4791456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保留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原版本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9989820" y="4645152"/>
            <a:ext cx="0" cy="64008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541764" y="4709160"/>
            <a:ext cx="928116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541764" y="4709160"/>
            <a:ext cx="0" cy="82296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28" name="Shape 126"/>
          <p:cNvSpPr/>
          <p:nvPr/>
        </p:nvSpPr>
        <p:spPr>
          <a:xfrm>
            <a:off x="10469880" y="4709160"/>
            <a:ext cx="0" cy="82296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29" name="Text 127"/>
          <p:cNvSpPr txBox="1"/>
          <p:nvPr/>
        </p:nvSpPr>
        <p:spPr>
          <a:xfrm>
            <a:off x="9144000" y="44988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是</a:t>
            </a:r>
            <a:endParaRPr lang="en-US" sz="1000" dirty="0"/>
          </a:p>
        </p:txBody>
      </p:sp>
      <p:sp>
        <p:nvSpPr>
          <p:cNvPr id="130" name="Text 128"/>
          <p:cNvSpPr txBox="1"/>
          <p:nvPr/>
        </p:nvSpPr>
        <p:spPr>
          <a:xfrm>
            <a:off x="10561320" y="44988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否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8732520" y="4983480"/>
            <a:ext cx="384048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32" name="Shape 130"/>
          <p:cNvSpPr/>
          <p:nvPr/>
        </p:nvSpPr>
        <p:spPr>
          <a:xfrm>
            <a:off x="228600" y="5806440"/>
            <a:ext cx="10881360" cy="1874520"/>
          </a:xfrm>
          <a:prstGeom prst="rect">
            <a:avLst/>
          </a:prstGeom>
          <a:solidFill>
            <a:srgbClr val="F4F5F7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274320" y="5806440"/>
            <a:ext cx="1051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协同在线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样本选择</a:t>
            </a:r>
            <a:endParaRPr lang="en-US" sz="1600" dirty="0"/>
          </a:p>
        </p:txBody>
      </p:sp>
      <p:sp>
        <p:nvSpPr>
          <p:cNvPr id="134" name="Shape 132"/>
          <p:cNvSpPr/>
          <p:nvPr/>
        </p:nvSpPr>
        <p:spPr>
          <a:xfrm>
            <a:off x="1417320" y="5888736"/>
            <a:ext cx="2514600" cy="1709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1417320" y="59253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候选梯度表示</a:t>
            </a:r>
            <a:endParaRPr lang="en-US" sz="1400" dirty="0"/>
          </a:p>
        </p:txBody>
      </p:sp>
      <p:sp>
        <p:nvSpPr>
          <p:cNvPr id="136" name="Text 134"/>
          <p:cNvSpPr txBox="1"/>
          <p:nvPr/>
        </p:nvSpPr>
        <p:spPr>
          <a:xfrm>
            <a:off x="1463040" y="733348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边缘设备上完成选择</a:t>
            </a:r>
            <a:endParaRPr lang="en-US" sz="1000" dirty="0"/>
          </a:p>
        </p:txBody>
      </p:sp>
      <p:sp>
        <p:nvSpPr>
          <p:cNvPr id="137" name="Shape 135"/>
          <p:cNvSpPr/>
          <p:nvPr/>
        </p:nvSpPr>
        <p:spPr>
          <a:xfrm>
            <a:off x="1709928" y="6327648"/>
            <a:ext cx="201168" cy="256032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655064" y="6373368"/>
            <a:ext cx="20116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691640" y="6437376"/>
            <a:ext cx="128016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691640" y="6492240"/>
            <a:ext cx="128016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691640" y="6547104"/>
            <a:ext cx="128016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057400" y="6272784"/>
            <a:ext cx="1737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2093976" y="627278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候选样本梯度</a:t>
            </a:r>
            <a:endParaRPr lang="en-US" sz="1050" dirty="0"/>
          </a:p>
        </p:txBody>
      </p:sp>
      <p:sp>
        <p:nvSpPr>
          <p:cNvPr id="144" name="Shape 142"/>
          <p:cNvSpPr/>
          <p:nvPr/>
        </p:nvSpPr>
        <p:spPr>
          <a:xfrm>
            <a:off x="1673352" y="6894576"/>
            <a:ext cx="219456" cy="219456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737360" y="6958584"/>
            <a:ext cx="91440" cy="9144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flipV="1">
            <a:off x="1728216" y="6839712"/>
            <a:ext cx="0" cy="54864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728216" y="7114032"/>
            <a:ext cx="0" cy="54864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flipH="1">
            <a:off x="1618488" y="6949440"/>
            <a:ext cx="54864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892808" y="6949440"/>
            <a:ext cx="54864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flipV="1">
            <a:off x="1783080" y="6839712"/>
            <a:ext cx="0" cy="54864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783080" y="7114032"/>
            <a:ext cx="0" cy="54864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flipH="1">
            <a:off x="1618488" y="7004304"/>
            <a:ext cx="54864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892808" y="7004304"/>
            <a:ext cx="54864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flipV="1">
            <a:off x="1837944" y="6839712"/>
            <a:ext cx="0" cy="54864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837944" y="7114032"/>
            <a:ext cx="0" cy="54864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flipH="1">
            <a:off x="1618488" y="7059168"/>
            <a:ext cx="54864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892808" y="7059168"/>
            <a:ext cx="54864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057400" y="6803136"/>
            <a:ext cx="1737360" cy="402336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2093976" y="680313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外积分解表示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降低长上下文开销</a:t>
            </a:r>
            <a:endParaRPr lang="en-US" sz="1000" dirty="0"/>
          </a:p>
        </p:txBody>
      </p:sp>
      <p:sp>
        <p:nvSpPr>
          <p:cNvPr id="160" name="Shape 158"/>
          <p:cNvSpPr/>
          <p:nvPr/>
        </p:nvSpPr>
        <p:spPr>
          <a:xfrm>
            <a:off x="2926080" y="6675120"/>
            <a:ext cx="0" cy="128016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61" name="Shape 159"/>
          <p:cNvSpPr/>
          <p:nvPr/>
        </p:nvSpPr>
        <p:spPr>
          <a:xfrm>
            <a:off x="4069080" y="5888736"/>
            <a:ext cx="4526280" cy="1709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4069080" y="592531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优化器感知的样本选择</a:t>
            </a:r>
            <a:endParaRPr lang="en-US" sz="1400" dirty="0"/>
          </a:p>
        </p:txBody>
      </p:sp>
      <p:sp>
        <p:nvSpPr>
          <p:cNvPr id="163" name="Text 161"/>
          <p:cNvSpPr txBox="1"/>
          <p:nvPr/>
        </p:nvSpPr>
        <p:spPr>
          <a:xfrm>
            <a:off x="4114800" y="733348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联合选择，避免重复选入相似样本</a:t>
            </a:r>
            <a:endParaRPr lang="en-US" sz="1000" dirty="0"/>
          </a:p>
        </p:txBody>
      </p:sp>
      <p:sp>
        <p:nvSpPr>
          <p:cNvPr id="164" name="Shape 162"/>
          <p:cNvSpPr/>
          <p:nvPr/>
        </p:nvSpPr>
        <p:spPr>
          <a:xfrm>
            <a:off x="4206240" y="6254496"/>
            <a:ext cx="4251960" cy="512064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公式 sel"/>
              <p:cNvSpPr txBox="1"/>
              <p:nvPr/>
            </p:nvSpPr>
            <p:spPr>
              <a:xfrm>
                <a:off x="4206240" y="6254496"/>
                <a:ext cx="4251960" cy="5120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limLow>
                        <m:e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b="0" i="1">
                              <a:latin typeface="Cambria Math" panose="02040503050406030204" pitchFamily="18" charset="0"/>
                            </a:rPr>
                            <m:t>w</m:t>
                          </m:r>
                        </m:lim>
                      </m:limLow>
                      <m:sSup>
                        <m:e>
                          <m:d>
                            <m:dPr>
                              <m:begChr m:val="‖"/>
                              <m:endChr m:val="‖"/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supHide m:val="1"/>
                                </m:naryPr>
                                <m:sub>
                                  <m:r>
                                    <a:rPr lang="en-US" sz="1050" b="0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050" b="0" i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1050" b="0" i="1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  <m:sup/>
                                <m:e>
                                  <m:sSub>
                                    <m:e>
                                      <m:r>
                                        <a:rPr lang="en-US" sz="1050" b="0" i="1">
                                          <a:latin typeface="Cambria Math" panose="02040503050406030204" pitchFamily="18" charset="0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a:rPr lang="en-US" sz="1050" b="0" i="1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sSub>
                                    <m:e>
                                      <m:r>
                                        <a:rPr lang="en-US" sz="1050" b="0" i="1">
                                          <a:latin typeface="Cambria Math" panose="02040503050406030204" pitchFamily="18" charset="0"/>
                                        </a:rPr>
                                        <m:t>P</m:t>
                                      </m:r>
                                    </m:e>
                                    <m:sub>
                                      <m:r>
                                        <a:rPr lang="en-US" sz="1050" b="0" i="1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1050" b="0" i="0"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  <m:sSub>
                                    <m:e>
                                      <m:r>
                                        <a:rPr lang="en-US" sz="1050" b="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b>
                                      <m:r>
                                        <a:rPr lang="en-US" sz="1050" b="0" i="1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a:rPr lang="en-US" sz="105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US" sz="1050" b="0" i="1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050" b="0" i="0">
                                      <a:latin typeface="Cambria Math" panose="02040503050406030204" pitchFamily="18" charset="0"/>
                                    </a:rPr>
                                    <m:t>*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sz="105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165" name="公式 sel"/>
              <p:cNvSpPr txBox="1"/>
              <p:nvPr/>
            </p:nvSpPr>
            <p:spPr>
              <a:xfrm>
                <a:off x="4206240" y="6254496"/>
                <a:ext cx="4251960" cy="5120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min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S,w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 ‖Σ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i∈S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 w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i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P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t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∇ℓ</a:t>
                </a:r>
                <a:pPr algn="ctr" indent="0" marL="0">
                  <a:buNone/>
                </a:pPr>
                <a:r>
                  <a:rPr lang="en-US" sz="1050" baseline="-4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i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 − g</a:t>
                </a:r>
                <a:pPr algn="ctr" indent="0" marL="0">
                  <a:buNone/>
                </a:pPr>
                <a:r>
                  <a:rPr lang="en-US" sz="1050" baseline="3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*</a:t>
                </a:r>
                <a:pPr algn="ctr" indent="0" marL="0">
                  <a:buNone/>
                </a:pPr>
                <a:r>
                  <a:rPr lang="en-US" sz="105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‖</a:t>
                </a:r>
                <a:pPr algn="ctr" indent="0" marL="0">
                  <a:buNone/>
                </a:pPr>
                <a:r>
                  <a:rPr lang="en-US" sz="1050" baseline="30000" dirty="0">
                    <a:solidFill>
                      <a:srgbClr val="000000"/>
                    </a:solidFill>
                    <a:latin typeface="Times New Roman" pitchFamily="34" charset="0"/>
                    <a:ea typeface="Microsoft YaHei" panose="020B0503020204020204" pitchFamily="34" charset="-122"/>
                    <a:cs typeface="Times New Roman" pitchFamily="34" charset="-120"/>
                  </a:rPr>
                  <a:t>2</a:t>
                </a:r>
                <a:endParaRPr lang="en-US" sz="1050" dirty="0"/>
              </a:p>
            </p:txBody>
          </p:sp>
        </mc:Fallback>
      </mc:AlternateContent>
      <p:sp>
        <p:nvSpPr>
          <p:cNvPr id="166" name="Shape 164"/>
          <p:cNvSpPr/>
          <p:nvPr/>
        </p:nvSpPr>
        <p:spPr>
          <a:xfrm>
            <a:off x="4343400" y="6922008"/>
            <a:ext cx="274320" cy="274320"/>
          </a:xfrm>
          <a:prstGeom prst="funnel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754880" y="6858000"/>
            <a:ext cx="1600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4791456" y="6858000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① 几何关系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筛选有效候选</a:t>
            </a:r>
            <a:endParaRPr lang="en-US" sz="1050" dirty="0"/>
          </a:p>
        </p:txBody>
      </p:sp>
      <p:sp>
        <p:nvSpPr>
          <p:cNvPr id="169" name="Shape 167"/>
          <p:cNvSpPr/>
          <p:nvPr/>
        </p:nvSpPr>
        <p:spPr>
          <a:xfrm>
            <a:off x="6675120" y="6858000"/>
            <a:ext cx="17830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6711696" y="6858000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② 联合优化权重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输出子集 S 与 w</a:t>
            </a:r>
            <a:endParaRPr lang="en-US" sz="1050" dirty="0"/>
          </a:p>
        </p:txBody>
      </p:sp>
      <p:sp>
        <p:nvSpPr>
          <p:cNvPr id="171" name="Shape 169"/>
          <p:cNvSpPr/>
          <p:nvPr/>
        </p:nvSpPr>
        <p:spPr>
          <a:xfrm>
            <a:off x="6355080" y="7059168"/>
            <a:ext cx="32004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72" name="Shape 170"/>
          <p:cNvSpPr/>
          <p:nvPr/>
        </p:nvSpPr>
        <p:spPr>
          <a:xfrm>
            <a:off x="3794760" y="7004304"/>
            <a:ext cx="13716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flipV="1">
            <a:off x="3931920" y="6510528"/>
            <a:ext cx="0" cy="493776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3931920" y="6510528"/>
            <a:ext cx="27432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75" name="Shape 173"/>
          <p:cNvSpPr/>
          <p:nvPr/>
        </p:nvSpPr>
        <p:spPr>
          <a:xfrm>
            <a:off x="8732520" y="5888736"/>
            <a:ext cx="2240280" cy="1709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8732520" y="59253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云端参考方向</a:t>
            </a:r>
            <a:endParaRPr lang="en-US" sz="1400" dirty="0"/>
          </a:p>
        </p:txBody>
      </p:sp>
      <p:sp>
        <p:nvSpPr>
          <p:cNvPr id="177" name="Text 175"/>
          <p:cNvSpPr txBox="1"/>
          <p:nvPr/>
        </p:nvSpPr>
        <p:spPr>
          <a:xfrm>
            <a:off x="8778240" y="733348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随课题 2 定期刷新</a:t>
            </a:r>
            <a:endParaRPr lang="en-US" sz="1000" dirty="0"/>
          </a:p>
        </p:txBody>
      </p:sp>
      <p:sp>
        <p:nvSpPr>
          <p:cNvPr id="178" name="Shape 176"/>
          <p:cNvSpPr/>
          <p:nvPr/>
        </p:nvSpPr>
        <p:spPr>
          <a:xfrm>
            <a:off x="8904427" y="6364224"/>
            <a:ext cx="351130" cy="219456"/>
          </a:xfrm>
          <a:prstGeom prst="cloud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326880" y="6272784"/>
            <a:ext cx="1508760" cy="402336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80" name="Text 178"/>
          <p:cNvSpPr txBox="1"/>
          <p:nvPr/>
        </p:nvSpPr>
        <p:spPr>
          <a:xfrm>
            <a:off x="9363456" y="6272784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下发参考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更新方向 g*</a:t>
            </a:r>
            <a:endParaRPr lang="en-US" sz="1050" dirty="0"/>
          </a:p>
        </p:txBody>
      </p:sp>
      <p:sp>
        <p:nvSpPr>
          <p:cNvPr id="181" name="Shape 179"/>
          <p:cNvSpPr/>
          <p:nvPr/>
        </p:nvSpPr>
        <p:spPr>
          <a:xfrm>
            <a:off x="9006840" y="6867144"/>
            <a:ext cx="146304" cy="182880"/>
          </a:xfrm>
          <a:prstGeom prst="roundRect">
            <a:avLst>
              <a:gd name="adj" fmla="val 50000"/>
            </a:avLst>
          </a:prstGeom>
          <a:ln w="19050">
            <a:solidFill>
              <a:srgbClr val="595959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961120" y="6976872"/>
            <a:ext cx="237744" cy="182880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057132" y="7031736"/>
            <a:ext cx="45720" cy="4572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184" name="Shape 182"/>
          <p:cNvSpPr/>
          <p:nvPr/>
        </p:nvSpPr>
        <p:spPr>
          <a:xfrm>
            <a:off x="9326880" y="6803136"/>
            <a:ext cx="15087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85" name="Text 183"/>
          <p:cNvSpPr txBox="1"/>
          <p:nvPr/>
        </p:nvSpPr>
        <p:spPr>
          <a:xfrm>
            <a:off x="9363456" y="6803136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原始数据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保留在边缘</a:t>
            </a:r>
            <a:endParaRPr lang="en-US" sz="1050" dirty="0"/>
          </a:p>
        </p:txBody>
      </p:sp>
      <p:sp>
        <p:nvSpPr>
          <p:cNvPr id="186" name="Shape 184"/>
          <p:cNvSpPr/>
          <p:nvPr/>
        </p:nvSpPr>
        <p:spPr>
          <a:xfrm flipH="1">
            <a:off x="8458200" y="6473952"/>
            <a:ext cx="86868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87" name="Shape 185"/>
          <p:cNvSpPr/>
          <p:nvPr/>
        </p:nvSpPr>
        <p:spPr>
          <a:xfrm>
            <a:off x="228600" y="7863840"/>
            <a:ext cx="10881360" cy="1463040"/>
          </a:xfrm>
          <a:prstGeom prst="rect">
            <a:avLst/>
          </a:prstGeom>
          <a:solidFill>
            <a:srgbClr val="F4F5F7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88" name="Text 186"/>
          <p:cNvSpPr txBox="1"/>
          <p:nvPr/>
        </p:nvSpPr>
        <p:spPr>
          <a:xfrm>
            <a:off x="274320" y="7863840"/>
            <a:ext cx="1051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数据与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上游支撑</a:t>
            </a:r>
            <a:endParaRPr lang="en-US" sz="1600" dirty="0"/>
          </a:p>
        </p:txBody>
      </p:sp>
      <p:sp>
        <p:nvSpPr>
          <p:cNvPr id="189" name="Shape 187"/>
          <p:cNvSpPr/>
          <p:nvPr/>
        </p:nvSpPr>
        <p:spPr>
          <a:xfrm>
            <a:off x="1417320" y="7946136"/>
            <a:ext cx="26517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90" name="Text 188"/>
          <p:cNvSpPr txBox="1"/>
          <p:nvPr/>
        </p:nvSpPr>
        <p:spPr>
          <a:xfrm>
            <a:off x="1417320" y="7982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流式候选池</a:t>
            </a:r>
            <a:endParaRPr lang="en-US" sz="1400" dirty="0"/>
          </a:p>
        </p:txBody>
      </p:sp>
      <p:sp>
        <p:nvSpPr>
          <p:cNvPr id="191" name="Text 189"/>
          <p:cNvSpPr txBox="1"/>
          <p:nvPr/>
        </p:nvSpPr>
        <p:spPr>
          <a:xfrm>
            <a:off x="1463040" y="89794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后两类来自研究内容（1）</a:t>
            </a:r>
            <a:endParaRPr lang="en-US" sz="1000" dirty="0"/>
          </a:p>
        </p:txBody>
      </p:sp>
      <p:sp>
        <p:nvSpPr>
          <p:cNvPr id="192" name="Shape 190"/>
          <p:cNvSpPr/>
          <p:nvPr/>
        </p:nvSpPr>
        <p:spPr>
          <a:xfrm>
            <a:off x="1764792" y="8394192"/>
            <a:ext cx="310896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93" name="Shape 191"/>
          <p:cNvSpPr/>
          <p:nvPr/>
        </p:nvSpPr>
        <p:spPr>
          <a:xfrm>
            <a:off x="1764792" y="8485632"/>
            <a:ext cx="310896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94" name="Shape 192"/>
          <p:cNvSpPr/>
          <p:nvPr/>
        </p:nvSpPr>
        <p:spPr>
          <a:xfrm>
            <a:off x="1764792" y="8577072"/>
            <a:ext cx="310896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95" name="Shape 193"/>
          <p:cNvSpPr/>
          <p:nvPr/>
        </p:nvSpPr>
        <p:spPr>
          <a:xfrm>
            <a:off x="2567635" y="8375904"/>
            <a:ext cx="351130" cy="219456"/>
          </a:xfrm>
          <a:prstGeom prst="cloud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3410712" y="8348472"/>
            <a:ext cx="310896" cy="274320"/>
          </a:xfrm>
          <a:prstGeom prst="triangl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97" name="Text 195"/>
          <p:cNvSpPr txBox="1"/>
          <p:nvPr/>
        </p:nvSpPr>
        <p:spPr>
          <a:xfrm>
            <a:off x="3474720" y="8430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!</a:t>
            </a:r>
            <a:endParaRPr lang="en-US" sz="1000" dirty="0"/>
          </a:p>
        </p:txBody>
      </p:sp>
      <p:sp>
        <p:nvSpPr>
          <p:cNvPr id="198" name="Text 196"/>
          <p:cNvSpPr txBox="1"/>
          <p:nvPr/>
        </p:nvSpPr>
        <p:spPr>
          <a:xfrm>
            <a:off x="1508760" y="86868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新采集数据</a:t>
            </a:r>
            <a:endParaRPr lang="en-US" sz="1000" dirty="0"/>
          </a:p>
        </p:txBody>
      </p:sp>
      <p:sp>
        <p:nvSpPr>
          <p:cNvPr id="199" name="Text 197"/>
          <p:cNvSpPr txBox="1"/>
          <p:nvPr/>
        </p:nvSpPr>
        <p:spPr>
          <a:xfrm>
            <a:off x="2331720" y="86868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卸载结果</a:t>
            </a:r>
            <a:endParaRPr lang="en-US" sz="1000" dirty="0"/>
          </a:p>
        </p:txBody>
      </p:sp>
      <p:sp>
        <p:nvSpPr>
          <p:cNvPr id="200" name="Text 198"/>
          <p:cNvSpPr txBox="1"/>
          <p:nvPr/>
        </p:nvSpPr>
        <p:spPr>
          <a:xfrm>
            <a:off x="3154680" y="86868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低一致样本</a:t>
            </a:r>
            <a:endParaRPr lang="en-US" sz="1000" dirty="0"/>
          </a:p>
        </p:txBody>
      </p:sp>
      <p:sp>
        <p:nvSpPr>
          <p:cNvPr id="201" name="Shape 199"/>
          <p:cNvSpPr/>
          <p:nvPr/>
        </p:nvSpPr>
        <p:spPr>
          <a:xfrm>
            <a:off x="4206240" y="7946136"/>
            <a:ext cx="34747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02" name="Text 200"/>
          <p:cNvSpPr txBox="1"/>
          <p:nvPr/>
        </p:nvSpPr>
        <p:spPr>
          <a:xfrm>
            <a:off x="4206240" y="79827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边缘持续学习难点</a:t>
            </a:r>
            <a:endParaRPr lang="en-US" sz="1400" dirty="0"/>
          </a:p>
        </p:txBody>
      </p:sp>
      <p:sp>
        <p:nvSpPr>
          <p:cNvPr id="203" name="Shape 201"/>
          <p:cNvSpPr/>
          <p:nvPr/>
        </p:nvSpPr>
        <p:spPr>
          <a:xfrm>
            <a:off x="4370832" y="8321040"/>
            <a:ext cx="210312" cy="210312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04" name="Text 202"/>
          <p:cNvSpPr txBox="1"/>
          <p:nvPr/>
        </p:nvSpPr>
        <p:spPr>
          <a:xfrm>
            <a:off x="4370832" y="8321040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1</a:t>
            </a:r>
            <a:endParaRPr lang="en-US" sz="1000" dirty="0"/>
          </a:p>
        </p:txBody>
      </p:sp>
      <p:sp>
        <p:nvSpPr>
          <p:cNvPr id="205" name="Shape 203"/>
          <p:cNvSpPr/>
          <p:nvPr/>
        </p:nvSpPr>
        <p:spPr>
          <a:xfrm>
            <a:off x="4663440" y="8302752"/>
            <a:ext cx="28803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06" name="Text 204"/>
          <p:cNvSpPr txBox="1"/>
          <p:nvPr/>
        </p:nvSpPr>
        <p:spPr>
          <a:xfrm>
            <a:off x="4700016" y="8302752"/>
            <a:ext cx="2807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采样：低价值与重复样本多</a:t>
            </a:r>
            <a:endParaRPr lang="en-US" sz="1050" dirty="0"/>
          </a:p>
        </p:txBody>
      </p:sp>
      <p:sp>
        <p:nvSpPr>
          <p:cNvPr id="207" name="Shape 205"/>
          <p:cNvSpPr/>
          <p:nvPr/>
        </p:nvSpPr>
        <p:spPr>
          <a:xfrm>
            <a:off x="4370832" y="8622792"/>
            <a:ext cx="210312" cy="210312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08" name="Text 206"/>
          <p:cNvSpPr txBox="1"/>
          <p:nvPr/>
        </p:nvSpPr>
        <p:spPr>
          <a:xfrm>
            <a:off x="4370832" y="8622792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  <p:sp>
        <p:nvSpPr>
          <p:cNvPr id="209" name="Shape 207"/>
          <p:cNvSpPr/>
          <p:nvPr/>
        </p:nvSpPr>
        <p:spPr>
          <a:xfrm>
            <a:off x="4663440" y="8604504"/>
            <a:ext cx="28803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10" name="Text 208"/>
          <p:cNvSpPr txBox="1"/>
          <p:nvPr/>
        </p:nvSpPr>
        <p:spPr>
          <a:xfrm>
            <a:off x="4700016" y="8604504"/>
            <a:ext cx="2807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显存：激活随序列长度增长</a:t>
            </a:r>
            <a:endParaRPr lang="en-US" sz="1050" dirty="0"/>
          </a:p>
        </p:txBody>
      </p:sp>
      <p:sp>
        <p:nvSpPr>
          <p:cNvPr id="211" name="Shape 209"/>
          <p:cNvSpPr/>
          <p:nvPr/>
        </p:nvSpPr>
        <p:spPr>
          <a:xfrm>
            <a:off x="4370832" y="8924544"/>
            <a:ext cx="210312" cy="210312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12" name="Text 210"/>
          <p:cNvSpPr txBox="1"/>
          <p:nvPr/>
        </p:nvSpPr>
        <p:spPr>
          <a:xfrm>
            <a:off x="4370832" y="8924544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  <p:sp>
        <p:nvSpPr>
          <p:cNvPr id="213" name="Shape 211"/>
          <p:cNvSpPr/>
          <p:nvPr/>
        </p:nvSpPr>
        <p:spPr>
          <a:xfrm>
            <a:off x="4663440" y="8906256"/>
            <a:ext cx="28803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14" name="Text 212"/>
          <p:cNvSpPr txBox="1"/>
          <p:nvPr/>
        </p:nvSpPr>
        <p:spPr>
          <a:xfrm>
            <a:off x="4700016" y="8906256"/>
            <a:ext cx="2807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协作：遗忘与卸载行为失稳</a:t>
            </a:r>
            <a:endParaRPr lang="en-US" sz="1050" dirty="0"/>
          </a:p>
        </p:txBody>
      </p:sp>
      <p:sp>
        <p:nvSpPr>
          <p:cNvPr id="215" name="Shape 213"/>
          <p:cNvSpPr/>
          <p:nvPr/>
        </p:nvSpPr>
        <p:spPr>
          <a:xfrm>
            <a:off x="7818120" y="7946136"/>
            <a:ext cx="315468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16" name="Text 214"/>
          <p:cNvSpPr txBox="1"/>
          <p:nvPr/>
        </p:nvSpPr>
        <p:spPr>
          <a:xfrm>
            <a:off x="7818120" y="798271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云端与上游课题</a:t>
            </a:r>
            <a:endParaRPr lang="en-US" sz="1400" dirty="0"/>
          </a:p>
        </p:txBody>
      </p:sp>
      <p:sp>
        <p:nvSpPr>
          <p:cNvPr id="217" name="Shape 215"/>
          <p:cNvSpPr/>
          <p:nvPr/>
        </p:nvSpPr>
        <p:spPr>
          <a:xfrm>
            <a:off x="8293608" y="8311896"/>
            <a:ext cx="237744" cy="292608"/>
          </a:xfrm>
          <a:prstGeom prst="can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9171432" y="8321040"/>
            <a:ext cx="438912" cy="274320"/>
          </a:xfrm>
          <a:prstGeom prst="cloud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 flipV="1">
            <a:off x="10241280" y="8321040"/>
            <a:ext cx="137160" cy="4572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0241280" y="8366760"/>
            <a:ext cx="137160" cy="9144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0241280" y="8366760"/>
            <a:ext cx="137160" cy="22860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 flipV="1">
            <a:off x="10241280" y="8321040"/>
            <a:ext cx="137160" cy="22860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 flipV="1">
            <a:off x="10241280" y="8458200"/>
            <a:ext cx="137160" cy="9144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0241280" y="8549640"/>
            <a:ext cx="137160" cy="4572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378440" y="8321040"/>
            <a:ext cx="137160" cy="13716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378440" y="8458200"/>
            <a:ext cx="137160" cy="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 flipV="1">
            <a:off x="10378440" y="8458200"/>
            <a:ext cx="137160" cy="137160"/>
          </a:xfrm>
          <a:prstGeom prst="line">
            <a:avLst/>
          </a:prstGeom>
          <a:noFill/>
          <a:ln w="6350">
            <a:solidFill>
              <a:srgbClr val="595959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204704" y="8330184"/>
            <a:ext cx="73152" cy="73152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204704" y="8513064"/>
            <a:ext cx="73152" cy="73152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0341864" y="8284464"/>
            <a:ext cx="73152" cy="73152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0341864" y="8421624"/>
            <a:ext cx="73152" cy="73152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0341864" y="8558784"/>
            <a:ext cx="73152" cy="73152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0479024" y="8421624"/>
            <a:ext cx="73152" cy="73152"/>
          </a:xfrm>
          <a:prstGeom prst="ellipse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34" name="Text 232"/>
          <p:cNvSpPr txBox="1"/>
          <p:nvPr/>
        </p:nvSpPr>
        <p:spPr>
          <a:xfrm>
            <a:off x="7863840" y="86502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数据集｜知识库</a:t>
            </a:r>
            <a:endParaRPr lang="en-US" sz="950" dirty="0"/>
          </a:p>
        </p:txBody>
      </p:sp>
      <p:sp>
        <p:nvSpPr>
          <p:cNvPr id="235" name="Text 233"/>
          <p:cNvSpPr txBox="1"/>
          <p:nvPr/>
        </p:nvSpPr>
        <p:spPr>
          <a:xfrm>
            <a:off x="9025128" y="86502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云端大模型</a:t>
            </a:r>
            <a:endParaRPr lang="en-US" sz="950" dirty="0"/>
          </a:p>
        </p:txBody>
      </p:sp>
      <p:sp>
        <p:nvSpPr>
          <p:cNvPr id="236" name="Text 234"/>
          <p:cNvSpPr txBox="1"/>
          <p:nvPr/>
        </p:nvSpPr>
        <p:spPr>
          <a:xfrm>
            <a:off x="10012680" y="86502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统一表征</a:t>
            </a:r>
            <a:endParaRPr lang="en-US" sz="950" dirty="0"/>
          </a:p>
        </p:txBody>
      </p:sp>
      <p:sp>
        <p:nvSpPr>
          <p:cNvPr id="237" name="Shape 235"/>
          <p:cNvSpPr/>
          <p:nvPr/>
        </p:nvSpPr>
        <p:spPr>
          <a:xfrm>
            <a:off x="7955280" y="8869680"/>
            <a:ext cx="2880360" cy="274320"/>
          </a:xfrm>
          <a:prstGeom prst="rect">
            <a:avLst/>
          </a:prstGeom>
          <a:solidFill>
            <a:srgbClr val="DCE3EA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38" name="Text 236"/>
          <p:cNvSpPr txBox="1"/>
          <p:nvPr/>
        </p:nvSpPr>
        <p:spPr>
          <a:xfrm>
            <a:off x="7991856" y="8869680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课题 2 数据与知识｜课题 1 表征模型</a:t>
            </a:r>
            <a:endParaRPr lang="en-US" sz="1050" dirty="0"/>
          </a:p>
        </p:txBody>
      </p:sp>
      <p:sp>
        <p:nvSpPr>
          <p:cNvPr id="239" name="Shape 237"/>
          <p:cNvSpPr/>
          <p:nvPr/>
        </p:nvSpPr>
        <p:spPr>
          <a:xfrm flipV="1">
            <a:off x="2743200" y="7598664"/>
            <a:ext cx="0" cy="34747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40" name="Shape 238"/>
          <p:cNvSpPr/>
          <p:nvPr/>
        </p:nvSpPr>
        <p:spPr>
          <a:xfrm flipV="1">
            <a:off x="5943600" y="7598664"/>
            <a:ext cx="0" cy="34747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41" name="Shape 239"/>
          <p:cNvSpPr/>
          <p:nvPr/>
        </p:nvSpPr>
        <p:spPr>
          <a:xfrm flipV="1">
            <a:off x="9784080" y="7598664"/>
            <a:ext cx="0" cy="34747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42" name="Shape 240"/>
          <p:cNvSpPr/>
          <p:nvPr/>
        </p:nvSpPr>
        <p:spPr>
          <a:xfrm flipV="1">
            <a:off x="4663440" y="5541264"/>
            <a:ext cx="0" cy="34747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43" name="Text 241"/>
          <p:cNvSpPr txBox="1"/>
          <p:nvPr/>
        </p:nvSpPr>
        <p:spPr>
          <a:xfrm>
            <a:off x="4727448" y="560527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样本子集 S 与权重 w</a:t>
            </a:r>
            <a:endParaRPr lang="en-US" sz="1000" dirty="0"/>
          </a:p>
        </p:txBody>
      </p:sp>
      <p:sp>
        <p:nvSpPr>
          <p:cNvPr id="244" name="Shape 242"/>
          <p:cNvSpPr/>
          <p:nvPr/>
        </p:nvSpPr>
        <p:spPr>
          <a:xfrm flipV="1">
            <a:off x="3474720" y="3438144"/>
            <a:ext cx="0" cy="34747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45" name="Text 243"/>
          <p:cNvSpPr txBox="1"/>
          <p:nvPr/>
        </p:nvSpPr>
        <p:spPr>
          <a:xfrm>
            <a:off x="3538728" y="35021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icrosoft YaHei" panose="020B0503020204020204" pitchFamily="34" charset="-122"/>
                <a:cs typeface="Times New Roman" pitchFamily="34" charset="-120"/>
              </a:rPr>
              <a:t>低显存参数更新</a:t>
            </a:r>
            <a:endParaRPr lang="en-US" sz="1000" dirty="0"/>
          </a:p>
        </p:txBody>
      </p:sp>
      <p:sp>
        <p:nvSpPr>
          <p:cNvPr id="246" name="Shape 244"/>
          <p:cNvSpPr/>
          <p:nvPr/>
        </p:nvSpPr>
        <p:spPr>
          <a:xfrm flipV="1">
            <a:off x="2560320" y="1380744"/>
            <a:ext cx="0" cy="39319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47" name="Shape 245"/>
          <p:cNvSpPr/>
          <p:nvPr/>
        </p:nvSpPr>
        <p:spPr>
          <a:xfrm flipV="1">
            <a:off x="4846320" y="1380744"/>
            <a:ext cx="0" cy="39319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48" name="Shape 246"/>
          <p:cNvSpPr/>
          <p:nvPr/>
        </p:nvSpPr>
        <p:spPr>
          <a:xfrm flipV="1">
            <a:off x="7406640" y="1380744"/>
            <a:ext cx="0" cy="39319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49" name="Shape 247"/>
          <p:cNvSpPr/>
          <p:nvPr/>
        </p:nvSpPr>
        <p:spPr>
          <a:xfrm flipV="1">
            <a:off x="9829800" y="1380744"/>
            <a:ext cx="0" cy="39319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2026-09-28T02:17:29Z</dcterms:created>
  <dcterms:modified xsi:type="dcterms:W3CDTF">2026-09-28T02:17:29Z</dcterms:modified>
</cp:coreProperties>
</file>