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338560" cy="9509760"/>
  <p:notesSz cx="9509760" cy="113385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基于缓存优化与协同解码的边缘轻量化推理技术路线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28600" y="640080"/>
            <a:ext cx="1088136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640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输出与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评价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17320" y="758952"/>
            <a:ext cx="2971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932688"/>
            <a:ext cx="274320" cy="274320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978408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024128"/>
            <a:ext cx="91440" cy="9144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03120" y="7589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边缘轻量化推理框架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→ 课题 4 实时决策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758952"/>
            <a:ext cx="31546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78992"/>
            <a:ext cx="64008" cy="10972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987552"/>
            <a:ext cx="64008" cy="20116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92624" y="1042416"/>
            <a:ext cx="64008" cy="14630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91456" y="1188720"/>
            <a:ext cx="30175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75895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一致性｜吞吐｜时延｜通信量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758952"/>
            <a:ext cx="31546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978408"/>
            <a:ext cx="29260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52460" y="946404"/>
            <a:ext cx="64008" cy="64008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069848"/>
            <a:ext cx="29260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42732" y="1037844"/>
            <a:ext cx="64008" cy="64008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3296" y="1161288"/>
            <a:ext cx="29260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5884" y="1129284"/>
            <a:ext cx="64008" cy="64008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75895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四类方案对比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窗口｜放宽系数｜预算分析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1691640"/>
            <a:ext cx="10881360" cy="182880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" y="1691640"/>
            <a:ext cx="1051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批量推测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预算分配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17320" y="1773936"/>
            <a:ext cx="361188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17320" y="18105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结构隔离起草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636776" y="2276856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00784" y="2340864"/>
            <a:ext cx="54864" cy="5486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2340864"/>
            <a:ext cx="54864" cy="5486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1" name="Shape 29"/>
          <p:cNvSpPr/>
          <p:nvPr/>
        </p:nvSpPr>
        <p:spPr>
          <a:xfrm flipV="1">
            <a:off x="1783080" y="2212848"/>
            <a:ext cx="0" cy="64008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60220" y="2176272"/>
            <a:ext cx="45720" cy="4572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3" name="Shape 31"/>
          <p:cNvSpPr/>
          <p:nvPr/>
        </p:nvSpPr>
        <p:spPr>
          <a:xfrm>
            <a:off x="2103120" y="2194560"/>
            <a:ext cx="2788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39696" y="219456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应用｜查询｜语义块标识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554480" y="2615184"/>
            <a:ext cx="10698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91056" y="261518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推理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88336" y="2615184"/>
            <a:ext cx="10698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24912" y="261518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工具调用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22192" y="2615184"/>
            <a:ext cx="10698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858768" y="261518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结果解释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554480" y="3017520"/>
            <a:ext cx="3337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91056" y="301752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下推自动机跟踪当前语义块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23260" y="2505456"/>
            <a:ext cx="0" cy="10972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3223260" y="2907792"/>
            <a:ext cx="0" cy="10972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166360" y="1773936"/>
            <a:ext cx="274320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66360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冗余度估计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13248" y="2203704"/>
            <a:ext cx="201168" cy="25603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58384" y="2249424"/>
            <a:ext cx="201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94960" y="2313432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94960" y="2368296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94960" y="2423160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0" y="2194560"/>
            <a:ext cx="20116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97296" y="21945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n 条候选，c 条前缀一致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03520" y="2596896"/>
            <a:ext cx="2468880" cy="40233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公式 g"/>
              <p:cNvSpPr txBox="1"/>
              <p:nvPr/>
            </p:nvSpPr>
            <p:spPr>
              <a:xfrm>
                <a:off x="5303520" y="2596896"/>
                <a:ext cx="2468880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num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c</m:t>
                          </m:r>
                        </m:num>
                        <m:den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050" b="0" i="1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5" name="公式 g"/>
              <p:cNvSpPr txBox="1"/>
              <p:nvPr/>
            </p:nvSpPr>
            <p:spPr>
              <a:xfrm>
                <a:off x="5303520" y="2596896"/>
                <a:ext cx="2468880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g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= c/n · p(n)</a:t>
                </a:r>
                <a:endParaRPr lang="en-US" sz="1050" dirty="0"/>
              </a:p>
            </p:txBody>
          </p:sp>
        </mc:Fallback>
      </mc:AlternateContent>
      <p:sp>
        <p:nvSpPr>
          <p:cNvPr id="56" name="Shape 54"/>
          <p:cNvSpPr/>
          <p:nvPr/>
        </p:nvSpPr>
        <p:spPr>
          <a:xfrm>
            <a:off x="5303520" y="3054096"/>
            <a:ext cx="24688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公式 p"/>
              <p:cNvSpPr txBox="1"/>
              <p:nvPr/>
            </p:nvSpPr>
            <p:spPr>
              <a:xfrm>
                <a:off x="5303520" y="3054096"/>
                <a:ext cx="24688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1050" b="0" i="1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50" b="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050" b="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7" name="公式 p"/>
              <p:cNvSpPr txBox="1"/>
              <p:nvPr/>
            </p:nvSpPr>
            <p:spPr>
              <a:xfrm>
                <a:off x="5303520" y="3054096"/>
                <a:ext cx="24688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p(n) = g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min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+ (1 − g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min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)(1 − e</a:t>
                </a:r>
                <a:pPr algn="ctr" indent="0" marL="0">
                  <a:buNone/>
                </a:pPr>
                <a:r>
                  <a:rPr lang="en-US" sz="1050" baseline="3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1−n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)</a:t>
                </a:r>
                <a:endParaRPr lang="en-US" sz="1050" dirty="0"/>
              </a:p>
            </p:txBody>
          </p:sp>
        </mc:Fallback>
      </mc:AlternateContent>
      <p:sp>
        <p:nvSpPr>
          <p:cNvPr id="58" name="Shape 56"/>
          <p:cNvSpPr/>
          <p:nvPr/>
        </p:nvSpPr>
        <p:spPr>
          <a:xfrm>
            <a:off x="4892040" y="2798064"/>
            <a:ext cx="4114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046720" y="1773936"/>
            <a:ext cx="292608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46720" y="1810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推测预算分配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8092440" y="31729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高冗余请求多分配，至少起草最稳前缀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284464" y="2249424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84464" y="2249424"/>
            <a:ext cx="256032" cy="256032"/>
          </a:xfrm>
          <a:prstGeom prst="pi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86800" y="2176272"/>
            <a:ext cx="21488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公式 B"/>
              <p:cNvSpPr txBox="1"/>
              <p:nvPr/>
            </p:nvSpPr>
            <p:spPr>
              <a:xfrm>
                <a:off x="8686800" y="2176272"/>
                <a:ext cx="2148840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</m:dPr>
                        <m:e>
                          <m:f>
                            <m:num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num>
                            <m:den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65" name="公式 B"/>
              <p:cNvSpPr txBox="1"/>
              <p:nvPr/>
            </p:nvSpPr>
            <p:spPr>
              <a:xfrm>
                <a:off x="8686800" y="2176272"/>
                <a:ext cx="2148840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B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= ⌊α/b⌋</a:t>
                </a:r>
                <a:endParaRPr lang="en-US" sz="1050" dirty="0"/>
              </a:p>
            </p:txBody>
          </p:sp>
        </mc:Fallback>
      </mc:AlternateContent>
      <p:sp>
        <p:nvSpPr>
          <p:cNvPr id="66" name="Shape 64"/>
          <p:cNvSpPr/>
          <p:nvPr/>
        </p:nvSpPr>
        <p:spPr>
          <a:xfrm>
            <a:off x="8183880" y="2670048"/>
            <a:ext cx="2651760" cy="45720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公式 L"/>
              <p:cNvSpPr txBox="1"/>
              <p:nvPr/>
            </p:nvSpPr>
            <p:spPr>
              <a:xfrm>
                <a:off x="8183880" y="2670048"/>
                <a:ext cx="2651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d>
                            <m:dPr>
                              <m:begChr m:val="|"/>
                              <m:endChr m:val="|"/>
                            </m:dPr>
                            <m:e>
                              <m:sSub>
                                <m:e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·</m:t>
                          </m:r>
                          <m:f>
                            <m:num>
                              <m:sSub>
                                <m:e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num>
                            <m:den>
                              <m:nary>
                                <m:naryPr>
                                  <m:chr m:val="∑"/>
                                  <m:limLoc m:val="subSup"/>
                                  <m:supHide m:val="1"/>
                                </m:naryPr>
                                <m:sub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  <m:sup/>
                                <m:e>
                                  <m:sSub>
                                    <m:e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g</m:t>
                                      </m:r>
                                    </m:e>
                                    <m:sub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67" name="公式 L"/>
              <p:cNvSpPr txBox="1"/>
              <p:nvPr/>
            </p:nvSpPr>
            <p:spPr>
              <a:xfrm>
                <a:off x="8183880" y="2670048"/>
                <a:ext cx="2651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L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= max(|C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|, B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·g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/Σ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j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g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j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)</a:t>
                </a:r>
                <a:endParaRPr lang="en-US" sz="1050" dirty="0"/>
              </a:p>
            </p:txBody>
          </p:sp>
        </mc:Fallback>
      </mc:AlternateContent>
      <p:sp>
        <p:nvSpPr>
          <p:cNvPr id="68" name="Shape 66"/>
          <p:cNvSpPr/>
          <p:nvPr/>
        </p:nvSpPr>
        <p:spPr>
          <a:xfrm>
            <a:off x="7772400" y="2852928"/>
            <a:ext cx="4114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761220" y="2578608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228600" y="3703320"/>
            <a:ext cx="10881360" cy="192024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74320" y="3703320"/>
            <a:ext cx="1051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协同推测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解码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417320" y="3785616"/>
            <a:ext cx="406908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417320" y="3822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单轮同步联合校验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463040" y="5276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同步轮次 k → 1，一次提交 k 个令牌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554480" y="4133088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554480" y="41513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常规自回归</a:t>
            </a:r>
            <a:endParaRPr lang="en-US" sz="9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公式 Tstd"/>
              <p:cNvSpPr txBox="1"/>
              <p:nvPr/>
            </p:nvSpPr>
            <p:spPr>
              <a:xfrm>
                <a:off x="1554480" y="4315968"/>
                <a:ext cx="178308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std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b="0" i="1"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50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("/>
                              <m:endChr m:val=")"/>
                            </m:dPr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en-US" sz="1050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5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77" name="公式 Tstd"/>
              <p:cNvSpPr txBox="1"/>
              <p:nvPr/>
            </p:nvSpPr>
            <p:spPr>
              <a:xfrm>
                <a:off x="1554480" y="4315968"/>
                <a:ext cx="178308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std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= k(t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0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+ (N−1)t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1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)</a:t>
                </a:r>
                <a:endParaRPr lang="en-US" sz="1050" dirty="0"/>
              </a:p>
            </p:txBody>
          </p:sp>
        </mc:Fallback>
      </mc:AlternateContent>
      <p:sp>
        <p:nvSpPr>
          <p:cNvPr id="78" name="Shape 76"/>
          <p:cNvSpPr/>
          <p:nvPr/>
        </p:nvSpPr>
        <p:spPr>
          <a:xfrm>
            <a:off x="3566160" y="4133088"/>
            <a:ext cx="1783080" cy="51206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566160" y="41513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协同推测</a:t>
            </a:r>
            <a:endParaRPr lang="en-US" sz="9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公式 Tco"/>
              <p:cNvSpPr txBox="1"/>
              <p:nvPr/>
            </p:nvSpPr>
            <p:spPr>
              <a:xfrm>
                <a:off x="3566160" y="4315968"/>
                <a:ext cx="178308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co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b="0" i="1">
                          <a:latin typeface="Cambria Math" panose="02040503050406030204" pitchFamily="18" charset="0"/>
                        </a:rPr>
                        <m:t>k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80" name="公式 Tco"/>
              <p:cNvSpPr txBox="1"/>
              <p:nvPr/>
            </p:nvSpPr>
            <p:spPr>
              <a:xfrm>
                <a:off x="3566160" y="4315968"/>
                <a:ext cx="178308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co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= kt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0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+ (N−1)t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1</a:t>
                </a:r>
                <a:endParaRPr lang="en-US" sz="1050" dirty="0"/>
              </a:p>
            </p:txBody>
          </p:sp>
        </mc:Fallback>
      </mc:AlternateContent>
      <p:sp>
        <p:nvSpPr>
          <p:cNvPr id="81" name="Shape 79"/>
          <p:cNvSpPr/>
          <p:nvPr/>
        </p:nvSpPr>
        <p:spPr>
          <a:xfrm>
            <a:off x="3337560" y="4389120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 flipV="1">
            <a:off x="1737360" y="4764024"/>
            <a:ext cx="137160" cy="4572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0" y="4809744"/>
            <a:ext cx="137160" cy="9144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0" y="4809744"/>
            <a:ext cx="137160" cy="22860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1737360" y="4764024"/>
            <a:ext cx="137160" cy="22860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1737360" y="4901184"/>
            <a:ext cx="137160" cy="9144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37360" y="4992624"/>
            <a:ext cx="137160" cy="4572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74520" y="4764024"/>
            <a:ext cx="137160" cy="13716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74520" y="4901184"/>
            <a:ext cx="137160" cy="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1874520" y="4901184"/>
            <a:ext cx="137160" cy="13716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00784" y="4773168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00784" y="4956048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37944" y="4727448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837944" y="4864608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37944" y="5001768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975104" y="4864608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554480" y="50840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草稿模型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148840" y="4901184"/>
            <a:ext cx="3200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2633472" y="4784598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66644" y="4804029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1" name="Shape 99"/>
          <p:cNvSpPr/>
          <p:nvPr/>
        </p:nvSpPr>
        <p:spPr>
          <a:xfrm>
            <a:off x="2633472" y="4862322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866644" y="4881753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633472" y="4940046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866644" y="4959477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273552" y="4784598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06724" y="4804029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273552" y="4862322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06724" y="4881753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273552" y="4940046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06724" y="4959477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886200" y="47914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…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4553712" y="4784598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786884" y="4804029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553712" y="4862322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786884" y="4881753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553712" y="4940046"/>
            <a:ext cx="310896" cy="6995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786884" y="4959477"/>
            <a:ext cx="31090" cy="3109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2560320" y="50840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分片节点 1 … N 联合校验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953512" y="4901184"/>
            <a:ext cx="31089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3593592" y="4901184"/>
            <a:ext cx="31089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4233672" y="4901184"/>
            <a:ext cx="31089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>
            <a:off x="5623560" y="3785616"/>
            <a:ext cx="324612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5623560" y="38221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关键令牌自适应校验</a:t>
            </a:r>
            <a:endParaRPr lang="en-US" sz="1400" dirty="0"/>
          </a:p>
        </p:txBody>
      </p:sp>
      <p:sp>
        <p:nvSpPr>
          <p:cNvPr id="124" name="Text 122"/>
          <p:cNvSpPr txBox="1"/>
          <p:nvPr/>
        </p:nvSpPr>
        <p:spPr>
          <a:xfrm>
            <a:off x="5669280" y="52760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τ = 0 时退化为严格校验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5779008" y="4315968"/>
            <a:ext cx="146304" cy="146304"/>
          </a:xfrm>
          <a:prstGeom prst="ellipse">
            <a:avLst/>
          </a:prstGeom>
          <a:solidFill>
            <a:srgbClr val="DCE3EA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25312" y="4389120"/>
            <a:ext cx="146304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016752" y="4389120"/>
            <a:ext cx="0" cy="5486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62472" y="4389120"/>
            <a:ext cx="0" cy="5486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72200" y="4133088"/>
            <a:ext cx="25603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公式 Key"/>
              <p:cNvSpPr txBox="1"/>
              <p:nvPr/>
            </p:nvSpPr>
            <p:spPr>
              <a:xfrm>
                <a:off x="6172200" y="4133088"/>
                <a:ext cx="2560320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1050" b="0" i="1">
                          <a:latin typeface="Cambria Math" panose="02040503050406030204" pitchFamily="18" charset="0"/>
                        </a:rPr>
                        <m:t>Key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⇔</m:t>
                      </m:r>
                      <m:f>
                        <m:num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begChr m:val="|"/>
                          <m:endChr m:val="|"/>
                        </m:dPr>
                        <m:e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1050" b="0" i="1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30" name="公式 Key"/>
              <p:cNvSpPr txBox="1"/>
              <p:nvPr/>
            </p:nvSpPr>
            <p:spPr>
              <a:xfrm>
                <a:off x="6172200" y="4133088"/>
                <a:ext cx="2560320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Key(y) ⇔ H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d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/H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&gt; λ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1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∨ |P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− P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d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| &gt; λ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2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∨ S &lt; λ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3</a:t>
                </a:r>
                <a:endParaRPr lang="en-US" sz="1050" dirty="0"/>
              </a:p>
            </p:txBody>
          </p:sp>
        </mc:Fallback>
      </mc:AlternateContent>
      <p:sp>
        <p:nvSpPr>
          <p:cNvPr id="131" name="Shape 129"/>
          <p:cNvSpPr/>
          <p:nvPr/>
        </p:nvSpPr>
        <p:spPr>
          <a:xfrm>
            <a:off x="5760720" y="4773168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5797296" y="4773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严格校验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数值｜实体｜控制符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7287768" y="4773168"/>
            <a:ext cx="1444752" cy="45720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7287768" y="478231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放宽校验</a:t>
            </a:r>
            <a:endParaRPr lang="en-US" sz="9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公式 Pt"/>
              <p:cNvSpPr txBox="1"/>
              <p:nvPr/>
            </p:nvSpPr>
            <p:spPr>
              <a:xfrm>
                <a:off x="7287768" y="4928616"/>
                <a:ext cx="1444752" cy="2834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1050" b="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∝</m:t>
                      </m:r>
                      <m:sSubSup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τ</m:t>
                          </m:r>
                        </m:sup>
                      </m:sSubSup>
                      <m:sSubSup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  <m:sup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τ</m:t>
                          </m:r>
                        </m:sup>
                      </m:sSubSup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35" name="公式 Pt"/>
              <p:cNvSpPr txBox="1"/>
              <p:nvPr/>
            </p:nvSpPr>
            <p:spPr>
              <a:xfrm>
                <a:off x="7287768" y="4928616"/>
                <a:ext cx="1444752" cy="2834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P̃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∝ P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baseline="3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1−τ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P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d</a:t>
                </a:r>
                <a:pPr algn="ctr" indent="0" marL="0">
                  <a:buNone/>
                </a:pPr>
                <a:r>
                  <a:rPr lang="en-US" sz="1050" baseline="3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τ</a:t>
                </a:r>
                <a:endParaRPr lang="en-US" sz="1050" dirty="0"/>
              </a:p>
            </p:txBody>
          </p:sp>
        </mc:Fallback>
      </mc:AlternateContent>
      <p:sp>
        <p:nvSpPr>
          <p:cNvPr id="136" name="Shape 134"/>
          <p:cNvSpPr/>
          <p:nvPr/>
        </p:nvSpPr>
        <p:spPr>
          <a:xfrm>
            <a:off x="7452360" y="4645152"/>
            <a:ext cx="0" cy="6400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483096" y="4709160"/>
            <a:ext cx="152704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483096" y="4709160"/>
            <a:ext cx="0" cy="6400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8010144" y="4709160"/>
            <a:ext cx="0" cy="6400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9006840" y="3785616"/>
            <a:ext cx="1965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9006840" y="3822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链路感知切换</a:t>
            </a:r>
            <a:endParaRPr lang="en-US" sz="1400" dirty="0"/>
          </a:p>
        </p:txBody>
      </p:sp>
      <p:sp>
        <p:nvSpPr>
          <p:cNvPr id="142" name="Text 140"/>
          <p:cNvSpPr txBox="1"/>
          <p:nvPr/>
        </p:nvSpPr>
        <p:spPr>
          <a:xfrm>
            <a:off x="9052560" y="52760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依据研究内容（1）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9395460" y="4133088"/>
            <a:ext cx="1188720" cy="51206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公式 link"/>
              <p:cNvSpPr txBox="1"/>
              <p:nvPr/>
            </p:nvSpPr>
            <p:spPr>
              <a:xfrm>
                <a:off x="9486900" y="4224528"/>
                <a:ext cx="100584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≫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44" name="公式 link"/>
              <p:cNvSpPr txBox="1"/>
              <p:nvPr/>
            </p:nvSpPr>
            <p:spPr>
              <a:xfrm>
                <a:off x="9486900" y="4224528"/>
                <a:ext cx="100584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1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≫ t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0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?</a:t>
                </a:r>
                <a:endParaRPr lang="en-US" sz="1050" dirty="0"/>
              </a:p>
            </p:txBody>
          </p:sp>
        </mc:Fallback>
      </mc:AlternateContent>
      <p:sp>
        <p:nvSpPr>
          <p:cNvPr id="145" name="Shape 143"/>
          <p:cNvSpPr/>
          <p:nvPr/>
        </p:nvSpPr>
        <p:spPr>
          <a:xfrm>
            <a:off x="9116568" y="4791456"/>
            <a:ext cx="850392" cy="42062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9153144" y="479145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协同推测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10058400" y="4791456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10094976" y="4791456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常规推测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9989820" y="4645152"/>
            <a:ext cx="0" cy="6400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541764" y="4709160"/>
            <a:ext cx="92811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541764" y="4709160"/>
            <a:ext cx="0" cy="8229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>
            <a:off x="10469880" y="4709160"/>
            <a:ext cx="0" cy="8229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3" name="Text 151"/>
          <p:cNvSpPr txBox="1"/>
          <p:nvPr/>
        </p:nvSpPr>
        <p:spPr>
          <a:xfrm>
            <a:off x="9189720" y="4498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是</a:t>
            </a:r>
            <a:endParaRPr lang="en-US" sz="1000" dirty="0"/>
          </a:p>
        </p:txBody>
      </p:sp>
      <p:sp>
        <p:nvSpPr>
          <p:cNvPr id="154" name="Text 152"/>
          <p:cNvSpPr txBox="1"/>
          <p:nvPr/>
        </p:nvSpPr>
        <p:spPr>
          <a:xfrm>
            <a:off x="10515600" y="4498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否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228600" y="5806440"/>
            <a:ext cx="10881360" cy="187452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274320" y="5806440"/>
            <a:ext cx="1051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缓存压缩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无损校验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1417320" y="5888736"/>
            <a:ext cx="251460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417320" y="5925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统一压缩器接口</a:t>
            </a:r>
            <a:endParaRPr lang="en-US" sz="1400" dirty="0"/>
          </a:p>
        </p:txBody>
      </p:sp>
      <p:sp>
        <p:nvSpPr>
          <p:cNvPr id="159" name="Text 157"/>
          <p:cNvSpPr txBox="1"/>
          <p:nvPr/>
        </p:nvSpPr>
        <p:spPr>
          <a:xfrm>
            <a:off x="1463040" y="73334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按显存余量选择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1554480" y="6272784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591056" y="627278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令牌丢弃</a:t>
            </a:r>
            <a:endParaRPr lang="en-US" sz="1050" dirty="0"/>
          </a:p>
        </p:txBody>
      </p:sp>
      <p:sp>
        <p:nvSpPr>
          <p:cNvPr id="162" name="Shape 160"/>
          <p:cNvSpPr/>
          <p:nvPr/>
        </p:nvSpPr>
        <p:spPr>
          <a:xfrm>
            <a:off x="2724912" y="6272784"/>
            <a:ext cx="10698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2761488" y="627278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KV 量化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1554480" y="6748272"/>
            <a:ext cx="2240280" cy="32918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1591056" y="674827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即插即用起草端</a:t>
            </a:r>
            <a:endParaRPr lang="en-US" sz="1050" dirty="0"/>
          </a:p>
        </p:txBody>
      </p:sp>
      <p:sp>
        <p:nvSpPr>
          <p:cNvPr id="166" name="Shape 164"/>
          <p:cNvSpPr/>
          <p:nvPr/>
        </p:nvSpPr>
        <p:spPr>
          <a:xfrm>
            <a:off x="2103120" y="6565392"/>
            <a:ext cx="0" cy="18288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3259836" y="6565392"/>
            <a:ext cx="0" cy="18288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4069080" y="5888736"/>
            <a:ext cx="452628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4069080" y="59253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起草与校验交错执行</a:t>
            </a:r>
            <a:endParaRPr lang="en-US" sz="1400" dirty="0"/>
          </a:p>
        </p:txBody>
      </p:sp>
      <p:sp>
        <p:nvSpPr>
          <p:cNvPr id="170" name="Text 168"/>
          <p:cNvSpPr txBox="1"/>
          <p:nvPr/>
        </p:nvSpPr>
        <p:spPr>
          <a:xfrm>
            <a:off x="4114800" y="73334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两类带宽重叠利用，输出无损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4261104" y="6364224"/>
            <a:ext cx="219456" cy="21945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325112" y="6428232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4315968" y="6309360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315968" y="6583680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H="1">
            <a:off x="4206240" y="6419088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480560" y="6419088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4370832" y="6309360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370832" y="6583680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H="1">
            <a:off x="4206240" y="6473952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480560" y="6473952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4425696" y="6309360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425696" y="6583680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H="1">
            <a:off x="4206240" y="6528816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480560" y="6528816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645152" y="6272784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4681728" y="6272784"/>
            <a:ext cx="106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压缩 KV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边缘侧</a:t>
            </a:r>
            <a:endParaRPr lang="en-US" sz="1050" dirty="0"/>
          </a:p>
        </p:txBody>
      </p:sp>
      <p:sp>
        <p:nvSpPr>
          <p:cNvPr id="187" name="Shape 185"/>
          <p:cNvSpPr/>
          <p:nvPr/>
        </p:nvSpPr>
        <p:spPr>
          <a:xfrm>
            <a:off x="4184294" y="6887718"/>
            <a:ext cx="373075" cy="233172"/>
          </a:xfrm>
          <a:prstGeom prst="cloud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645152" y="6803136"/>
            <a:ext cx="1143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4681728" y="6803136"/>
            <a:ext cx="106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完整 KV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服务器 / 云</a:t>
            </a:r>
            <a:endParaRPr lang="en-US" sz="1050" dirty="0"/>
          </a:p>
        </p:txBody>
      </p:sp>
      <p:sp>
        <p:nvSpPr>
          <p:cNvPr id="190" name="Shape 188"/>
          <p:cNvSpPr/>
          <p:nvPr/>
        </p:nvSpPr>
        <p:spPr>
          <a:xfrm>
            <a:off x="6016752" y="6272784"/>
            <a:ext cx="1051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6053328" y="6272784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快速起草</a:t>
            </a:r>
            <a:endParaRPr lang="en-US" sz="1050" dirty="0"/>
          </a:p>
        </p:txBody>
      </p:sp>
      <p:sp>
        <p:nvSpPr>
          <p:cNvPr id="192" name="Shape 190"/>
          <p:cNvSpPr/>
          <p:nvPr/>
        </p:nvSpPr>
        <p:spPr>
          <a:xfrm>
            <a:off x="6016752" y="6803136"/>
            <a:ext cx="1051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6053328" y="6803136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并行换入</a:t>
            </a:r>
            <a:endParaRPr lang="en-US" sz="1050" dirty="0"/>
          </a:p>
        </p:txBody>
      </p:sp>
      <p:sp>
        <p:nvSpPr>
          <p:cNvPr id="194" name="Shape 192"/>
          <p:cNvSpPr/>
          <p:nvPr/>
        </p:nvSpPr>
        <p:spPr>
          <a:xfrm>
            <a:off x="5788152" y="6473952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>
            <a:off x="5788152" y="7004304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7296912" y="6272784"/>
            <a:ext cx="1161288" cy="93268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744968" y="640994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18704" y="6583680"/>
            <a:ext cx="91440" cy="9144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799832" y="6510528"/>
            <a:ext cx="36576" cy="4572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7836408" y="6464808"/>
            <a:ext cx="64008" cy="9144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7296912" y="676656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对照完整缓存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校验候选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7068312" y="6473952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3" name="Shape 201"/>
          <p:cNvSpPr/>
          <p:nvPr/>
        </p:nvSpPr>
        <p:spPr>
          <a:xfrm>
            <a:off x="7068312" y="7004304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8732520" y="5888736"/>
            <a:ext cx="224028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8732520" y="59253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窗口自适应与复用</a:t>
            </a:r>
            <a:endParaRPr lang="en-US" sz="1400" dirty="0"/>
          </a:p>
        </p:txBody>
      </p:sp>
      <p:sp>
        <p:nvSpPr>
          <p:cNvPr id="206" name="Text 204"/>
          <p:cNvSpPr txBox="1"/>
          <p:nvPr/>
        </p:nvSpPr>
        <p:spPr>
          <a:xfrm>
            <a:off x="8778240" y="73334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减少重复预填充</a:t>
            </a:r>
            <a:endParaRPr lang="en-US" sz="1000" dirty="0"/>
          </a:p>
        </p:txBody>
      </p:sp>
      <p:sp>
        <p:nvSpPr>
          <p:cNvPr id="207" name="Shape 205"/>
          <p:cNvSpPr/>
          <p:nvPr/>
        </p:nvSpPr>
        <p:spPr>
          <a:xfrm>
            <a:off x="8951976" y="6345936"/>
            <a:ext cx="256032" cy="25603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flipV="1">
            <a:off x="9079992" y="6391656"/>
            <a:ext cx="0" cy="82296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079992" y="6473952"/>
            <a:ext cx="64008" cy="2743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326880" y="6272784"/>
            <a:ext cx="1508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9363456" y="6272784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起草窗口 γ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按接受长度调整</a:t>
            </a:r>
            <a:endParaRPr lang="en-US" sz="1050" dirty="0"/>
          </a:p>
        </p:txBody>
      </p:sp>
      <p:sp>
        <p:nvSpPr>
          <p:cNvPr id="212" name="Shape 210"/>
          <p:cNvSpPr/>
          <p:nvPr/>
        </p:nvSpPr>
        <p:spPr>
          <a:xfrm>
            <a:off x="8904427" y="6894576"/>
            <a:ext cx="351130" cy="219456"/>
          </a:xfrm>
          <a:prstGeom prst="cloud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326880" y="6803136"/>
            <a:ext cx="1508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9363456" y="6803136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远程前缀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缓存复用</a:t>
            </a:r>
            <a:endParaRPr lang="en-US" sz="1050" dirty="0"/>
          </a:p>
        </p:txBody>
      </p:sp>
      <p:sp>
        <p:nvSpPr>
          <p:cNvPr id="215" name="Shape 213"/>
          <p:cNvSpPr/>
          <p:nvPr/>
        </p:nvSpPr>
        <p:spPr>
          <a:xfrm>
            <a:off x="8458200" y="6473952"/>
            <a:ext cx="466344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16" name="Shape 214"/>
          <p:cNvSpPr/>
          <p:nvPr/>
        </p:nvSpPr>
        <p:spPr>
          <a:xfrm>
            <a:off x="228600" y="7863840"/>
            <a:ext cx="10881360" cy="146304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274320" y="786384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负载与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部署约束</a:t>
            </a:r>
            <a:endParaRPr lang="en-US" sz="1600" dirty="0"/>
          </a:p>
        </p:txBody>
      </p:sp>
      <p:sp>
        <p:nvSpPr>
          <p:cNvPr id="218" name="Shape 216"/>
          <p:cNvSpPr/>
          <p:nvPr/>
        </p:nvSpPr>
        <p:spPr>
          <a:xfrm>
            <a:off x="1417320" y="7946136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1417320" y="7982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推理负载</a:t>
            </a:r>
            <a:endParaRPr lang="en-US" sz="1400" dirty="0"/>
          </a:p>
        </p:txBody>
      </p:sp>
      <p:sp>
        <p:nvSpPr>
          <p:cNvPr id="220" name="Shape 218"/>
          <p:cNvSpPr/>
          <p:nvPr/>
        </p:nvSpPr>
        <p:spPr>
          <a:xfrm>
            <a:off x="1847088" y="8385048"/>
            <a:ext cx="201168" cy="25603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792224" y="8430768"/>
            <a:ext cx="201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828800" y="8494776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828800" y="8549640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828800" y="8604504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2596896" y="848563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660904" y="8549640"/>
            <a:ext cx="54864" cy="5486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27" name="Shape 225"/>
          <p:cNvSpPr/>
          <p:nvPr/>
        </p:nvSpPr>
        <p:spPr>
          <a:xfrm>
            <a:off x="2770632" y="8549640"/>
            <a:ext cx="54864" cy="5486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28" name="Shape 226"/>
          <p:cNvSpPr/>
          <p:nvPr/>
        </p:nvSpPr>
        <p:spPr>
          <a:xfrm flipV="1">
            <a:off x="2743200" y="8421624"/>
            <a:ext cx="0" cy="64008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720340" y="8385048"/>
            <a:ext cx="45720" cy="4572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30" name="Shape 228"/>
          <p:cNvSpPr/>
          <p:nvPr/>
        </p:nvSpPr>
        <p:spPr>
          <a:xfrm>
            <a:off x="3410712" y="8439912"/>
            <a:ext cx="310896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31" name="Shape 229"/>
          <p:cNvSpPr/>
          <p:nvPr/>
        </p:nvSpPr>
        <p:spPr>
          <a:xfrm>
            <a:off x="3410712" y="8531352"/>
            <a:ext cx="310896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32" name="Shape 230"/>
          <p:cNvSpPr/>
          <p:nvPr/>
        </p:nvSpPr>
        <p:spPr>
          <a:xfrm>
            <a:off x="3410712" y="8622792"/>
            <a:ext cx="310896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33" name="Text 231"/>
          <p:cNvSpPr txBox="1"/>
          <p:nvPr/>
        </p:nvSpPr>
        <p:spPr>
          <a:xfrm>
            <a:off x="1554480" y="8796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长上下文</a:t>
            </a:r>
            <a:endParaRPr lang="en-US" sz="1000" dirty="0"/>
          </a:p>
        </p:txBody>
      </p:sp>
      <p:sp>
        <p:nvSpPr>
          <p:cNvPr id="234" name="Text 232"/>
          <p:cNvSpPr txBox="1"/>
          <p:nvPr/>
        </p:nvSpPr>
        <p:spPr>
          <a:xfrm>
            <a:off x="2331720" y="8796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多轮智能体</a:t>
            </a:r>
            <a:endParaRPr lang="en-US" sz="1000" dirty="0"/>
          </a:p>
        </p:txBody>
      </p:sp>
      <p:sp>
        <p:nvSpPr>
          <p:cNvPr id="235" name="Text 233"/>
          <p:cNvSpPr txBox="1"/>
          <p:nvPr/>
        </p:nvSpPr>
        <p:spPr>
          <a:xfrm>
            <a:off x="3200400" y="8796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并发批量</a:t>
            </a:r>
            <a:endParaRPr lang="en-US" sz="1000" dirty="0"/>
          </a:p>
        </p:txBody>
      </p:sp>
      <p:sp>
        <p:nvSpPr>
          <p:cNvPr id="236" name="Shape 234"/>
          <p:cNvSpPr/>
          <p:nvPr/>
        </p:nvSpPr>
        <p:spPr>
          <a:xfrm>
            <a:off x="4206240" y="7946136"/>
            <a:ext cx="34747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4206240" y="7982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边缘推理瓶颈</a:t>
            </a:r>
            <a:endParaRPr lang="en-US" sz="1400" dirty="0"/>
          </a:p>
        </p:txBody>
      </p:sp>
      <p:sp>
        <p:nvSpPr>
          <p:cNvPr id="238" name="Shape 236"/>
          <p:cNvSpPr/>
          <p:nvPr/>
        </p:nvSpPr>
        <p:spPr>
          <a:xfrm>
            <a:off x="4370832" y="8321040"/>
            <a:ext cx="210312" cy="21031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4370832" y="832104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240" name="Shape 238"/>
          <p:cNvSpPr/>
          <p:nvPr/>
        </p:nvSpPr>
        <p:spPr>
          <a:xfrm>
            <a:off x="4663440" y="8302752"/>
            <a:ext cx="2880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4700016" y="830275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显存：KV 缓存随上下文增长</a:t>
            </a:r>
            <a:endParaRPr lang="en-US" sz="1050" dirty="0"/>
          </a:p>
        </p:txBody>
      </p:sp>
      <p:sp>
        <p:nvSpPr>
          <p:cNvPr id="242" name="Shape 240"/>
          <p:cNvSpPr/>
          <p:nvPr/>
        </p:nvSpPr>
        <p:spPr>
          <a:xfrm>
            <a:off x="4370832" y="8622792"/>
            <a:ext cx="210312" cy="21031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4370832" y="8622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sp>
        <p:nvSpPr>
          <p:cNvPr id="244" name="Shape 242"/>
          <p:cNvSpPr/>
          <p:nvPr/>
        </p:nvSpPr>
        <p:spPr>
          <a:xfrm>
            <a:off x="4663440" y="8604504"/>
            <a:ext cx="2880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5" name="Text 243"/>
          <p:cNvSpPr txBox="1"/>
          <p:nvPr/>
        </p:nvSpPr>
        <p:spPr>
          <a:xfrm>
            <a:off x="4700016" y="8604504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通信：跨节点同步时延高</a:t>
            </a:r>
            <a:endParaRPr lang="en-US" sz="1050" dirty="0"/>
          </a:p>
        </p:txBody>
      </p:sp>
      <p:sp>
        <p:nvSpPr>
          <p:cNvPr id="246" name="Shape 244"/>
          <p:cNvSpPr/>
          <p:nvPr/>
        </p:nvSpPr>
        <p:spPr>
          <a:xfrm>
            <a:off x="4370832" y="8924544"/>
            <a:ext cx="210312" cy="21031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4370832" y="892454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sp>
        <p:nvSpPr>
          <p:cNvPr id="248" name="Shape 246"/>
          <p:cNvSpPr/>
          <p:nvPr/>
        </p:nvSpPr>
        <p:spPr>
          <a:xfrm>
            <a:off x="4663440" y="8906256"/>
            <a:ext cx="2880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9" name="Text 247"/>
          <p:cNvSpPr txBox="1"/>
          <p:nvPr/>
        </p:nvSpPr>
        <p:spPr>
          <a:xfrm>
            <a:off x="4700016" y="8906256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并发：批量推测收益下降</a:t>
            </a:r>
            <a:endParaRPr lang="en-US" sz="1050" dirty="0"/>
          </a:p>
        </p:txBody>
      </p:sp>
      <p:sp>
        <p:nvSpPr>
          <p:cNvPr id="250" name="Shape 248"/>
          <p:cNvSpPr/>
          <p:nvPr/>
        </p:nvSpPr>
        <p:spPr>
          <a:xfrm>
            <a:off x="7818120" y="7946136"/>
            <a:ext cx="315468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1" name="Text 249"/>
          <p:cNvSpPr txBox="1"/>
          <p:nvPr/>
        </p:nvSpPr>
        <p:spPr>
          <a:xfrm>
            <a:off x="7818120" y="79827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边缘分布式部署</a:t>
            </a:r>
            <a:endParaRPr lang="en-US" sz="1400" dirty="0"/>
          </a:p>
        </p:txBody>
      </p:sp>
      <p:sp>
        <p:nvSpPr>
          <p:cNvPr id="252" name="Shape 250"/>
          <p:cNvSpPr/>
          <p:nvPr/>
        </p:nvSpPr>
        <p:spPr>
          <a:xfrm>
            <a:off x="8129016" y="828446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211312" y="8357616"/>
            <a:ext cx="128016" cy="10972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208008" y="8275320"/>
            <a:ext cx="365760" cy="822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482328" y="8298180"/>
            <a:ext cx="36576" cy="365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56" name="Shape 254"/>
          <p:cNvSpPr/>
          <p:nvPr/>
        </p:nvSpPr>
        <p:spPr>
          <a:xfrm>
            <a:off x="9208008" y="8366760"/>
            <a:ext cx="365760" cy="822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482328" y="8389620"/>
            <a:ext cx="36576" cy="365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58" name="Shape 256"/>
          <p:cNvSpPr/>
          <p:nvPr/>
        </p:nvSpPr>
        <p:spPr>
          <a:xfrm>
            <a:off x="9208008" y="8458200"/>
            <a:ext cx="365760" cy="822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82328" y="8481060"/>
            <a:ext cx="36576" cy="365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260" name="Shape 258"/>
          <p:cNvSpPr/>
          <p:nvPr/>
        </p:nvSpPr>
        <p:spPr>
          <a:xfrm>
            <a:off x="10296144" y="8275320"/>
            <a:ext cx="438912" cy="274320"/>
          </a:xfrm>
          <a:prstGeom prst="cloud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485632" y="8412480"/>
            <a:ext cx="65836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262" name="Shape 260"/>
          <p:cNvSpPr/>
          <p:nvPr/>
        </p:nvSpPr>
        <p:spPr>
          <a:xfrm>
            <a:off x="9637776" y="8412480"/>
            <a:ext cx="63093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263" name="Text 261"/>
          <p:cNvSpPr txBox="1"/>
          <p:nvPr/>
        </p:nvSpPr>
        <p:spPr>
          <a:xfrm>
            <a:off x="7955280" y="8567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边缘设备</a:t>
            </a:r>
            <a:endParaRPr lang="en-US" sz="950" dirty="0"/>
          </a:p>
        </p:txBody>
      </p:sp>
      <p:sp>
        <p:nvSpPr>
          <p:cNvPr id="264" name="Text 262"/>
          <p:cNvSpPr txBox="1"/>
          <p:nvPr/>
        </p:nvSpPr>
        <p:spPr>
          <a:xfrm>
            <a:off x="9025128" y="8567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边缘服务器</a:t>
            </a:r>
            <a:endParaRPr lang="en-US" sz="950" dirty="0"/>
          </a:p>
        </p:txBody>
      </p:sp>
      <p:sp>
        <p:nvSpPr>
          <p:cNvPr id="265" name="Text 263"/>
          <p:cNvSpPr txBox="1"/>
          <p:nvPr/>
        </p:nvSpPr>
        <p:spPr>
          <a:xfrm>
            <a:off x="10241280" y="85679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云端</a:t>
            </a:r>
            <a:endParaRPr lang="en-US" sz="950" dirty="0"/>
          </a:p>
        </p:txBody>
      </p:sp>
      <p:sp>
        <p:nvSpPr>
          <p:cNvPr id="266" name="Shape 264"/>
          <p:cNvSpPr/>
          <p:nvPr/>
        </p:nvSpPr>
        <p:spPr>
          <a:xfrm>
            <a:off x="7955280" y="8869680"/>
            <a:ext cx="2880360" cy="27432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67" name="Text 265"/>
          <p:cNvSpPr txBox="1"/>
          <p:nvPr/>
        </p:nvSpPr>
        <p:spPr>
          <a:xfrm>
            <a:off x="7991856" y="886968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研究内容（1）：节点与链路状态</a:t>
            </a:r>
            <a:endParaRPr lang="en-US" sz="1050" dirty="0"/>
          </a:p>
        </p:txBody>
      </p:sp>
      <p:sp>
        <p:nvSpPr>
          <p:cNvPr id="268" name="Shape 266"/>
          <p:cNvSpPr/>
          <p:nvPr/>
        </p:nvSpPr>
        <p:spPr>
          <a:xfrm flipV="1">
            <a:off x="2743200" y="75986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9" name="Shape 267"/>
          <p:cNvSpPr/>
          <p:nvPr/>
        </p:nvSpPr>
        <p:spPr>
          <a:xfrm flipV="1">
            <a:off x="5943600" y="75986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0" name="Shape 268"/>
          <p:cNvSpPr/>
          <p:nvPr/>
        </p:nvSpPr>
        <p:spPr>
          <a:xfrm flipV="1">
            <a:off x="1783080" y="5266944"/>
            <a:ext cx="0" cy="6217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1" name="Text 269"/>
          <p:cNvSpPr txBox="1"/>
          <p:nvPr/>
        </p:nvSpPr>
        <p:spPr>
          <a:xfrm>
            <a:off x="1847088" y="5605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压缩缓存作为起草源</a:t>
            </a:r>
            <a:endParaRPr lang="en-US" sz="1000" dirty="0"/>
          </a:p>
        </p:txBody>
      </p:sp>
      <p:sp>
        <p:nvSpPr>
          <p:cNvPr id="272" name="Shape 270"/>
          <p:cNvSpPr/>
          <p:nvPr/>
        </p:nvSpPr>
        <p:spPr>
          <a:xfrm>
            <a:off x="10835640" y="9006840"/>
            <a:ext cx="2103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flipV="1">
            <a:off x="11045952" y="4389120"/>
            <a:ext cx="0" cy="461772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flipH="1">
            <a:off x="10584180" y="4389120"/>
            <a:ext cx="46177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5" name="Text 273"/>
          <p:cNvSpPr txBox="1"/>
          <p:nvPr/>
        </p:nvSpPr>
        <p:spPr>
          <a:xfrm>
            <a:off x="9966960" y="560527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链路状态</a:t>
            </a:r>
            <a:endParaRPr lang="en-US" sz="1000" dirty="0"/>
          </a:p>
        </p:txBody>
      </p:sp>
      <p:sp>
        <p:nvSpPr>
          <p:cNvPr id="276" name="Shape 274"/>
          <p:cNvSpPr/>
          <p:nvPr/>
        </p:nvSpPr>
        <p:spPr>
          <a:xfrm flipV="1">
            <a:off x="7223760" y="55412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7" name="Shape 275"/>
          <p:cNvSpPr/>
          <p:nvPr/>
        </p:nvSpPr>
        <p:spPr>
          <a:xfrm flipV="1">
            <a:off x="3474720" y="343814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8" name="Shape 276"/>
          <p:cNvSpPr/>
          <p:nvPr/>
        </p:nvSpPr>
        <p:spPr>
          <a:xfrm flipV="1">
            <a:off x="290322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9" name="Shape 277"/>
          <p:cNvSpPr/>
          <p:nvPr/>
        </p:nvSpPr>
        <p:spPr>
          <a:xfrm flipV="1">
            <a:off x="610362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80" name="Shape 278"/>
          <p:cNvSpPr/>
          <p:nvPr/>
        </p:nvSpPr>
        <p:spPr>
          <a:xfrm flipV="1">
            <a:off x="939546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2026-09-28T02:03:56Z</dcterms:created>
  <dcterms:modified xsi:type="dcterms:W3CDTF">2026-09-28T02:03:56Z</dcterms:modified>
</cp:coreProperties>
</file>