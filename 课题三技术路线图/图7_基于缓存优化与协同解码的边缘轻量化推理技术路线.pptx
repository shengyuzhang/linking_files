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338560" cy="9509760"/>
  <p:notesSz cx="9509760" cy="113385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基于缓存优化与协同解码的边缘轻量化推理技术路线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28600" y="640080"/>
            <a:ext cx="10881360" cy="868680"/>
          </a:xfrm>
          <a:prstGeom prst="rect">
            <a:avLst/>
          </a:prstGeom>
          <a:solidFill>
            <a:srgbClr val="F4F5F7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64008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输出与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评价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417320" y="758952"/>
            <a:ext cx="29718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53896" y="758952"/>
            <a:ext cx="2898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边缘轻量化推理框架：显存｜通信｜并发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→ 课题 4 复杂系统实时决策分析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26280" y="758952"/>
            <a:ext cx="31546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2856" y="758952"/>
            <a:ext cx="3081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指标：输出一致性｜解码吞吐｜端到端时延｜通信量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变量：上下文长度｜节点规模｜批量规模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18120" y="758952"/>
            <a:ext cx="31546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54696" y="758952"/>
            <a:ext cx="3081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对比：完整缓存｜有损压缩｜常规推测解码｜本方案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参数分析：起草窗口 γ｜放宽系数 τ｜预算 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691640"/>
            <a:ext cx="10881360" cy="1828800"/>
          </a:xfrm>
          <a:prstGeom prst="rect">
            <a:avLst/>
          </a:prstGeom>
          <a:solidFill>
            <a:srgbClr val="F4F5F7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" y="1691640"/>
            <a:ext cx="1051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批量推测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预算分配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17320" y="1773936"/>
            <a:ext cx="361188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181051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结构隔离的起草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1638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仅在当前语义块内检索草稿，减少跨阶段无效推测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54480" y="2157984"/>
            <a:ext cx="3337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91056" y="2157984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请求元信息：应用标识｜用户查询标识｜语义块划分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554480" y="2542032"/>
            <a:ext cx="10698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91056" y="2542032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推理块缓存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688336" y="2542032"/>
            <a:ext cx="10698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24912" y="2542032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工具调用块缓存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22192" y="2542032"/>
            <a:ext cx="10698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58768" y="2542032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结果解释块缓存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554480" y="2898648"/>
            <a:ext cx="33375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91056" y="2898648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令牌–字符串映射 ＋ 下推自动机在线跟踪语义块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23260" y="2432304"/>
            <a:ext cx="0" cy="109728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3223260" y="2816352"/>
            <a:ext cx="0" cy="82296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166360" y="1773936"/>
            <a:ext cx="274320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66360" y="1810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冗余度估计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31638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c/n 刻画共识，p(n) 抑制历史支持不足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0" y="2157984"/>
            <a:ext cx="24688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40096" y="2157984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同块检索 n 条候选续写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其中 c 条在最常见前缀上一致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03520" y="2615184"/>
            <a:ext cx="2468880" cy="246888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40096" y="2615184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g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i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 = c / n · p(n)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03520" y="2916936"/>
            <a:ext cx="24688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40096" y="2916936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p(n) = g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min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 + (1 − g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min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)(1 − e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3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1−n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92040" y="2679192"/>
            <a:ext cx="4114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046720" y="1773936"/>
            <a:ext cx="292608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0" y="1810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批次级推测预算分配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092440" y="31638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α 控制总体推测预算，b 为批量规模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83880" y="2157984"/>
            <a:ext cx="26517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0456" y="215798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B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t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 = ⌊α / b⌋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183880" y="2523744"/>
            <a:ext cx="2651760" cy="310896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20456" y="252374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L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i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 = max(|C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i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|, B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t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 · g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i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 / Σ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j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 g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j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183880" y="2907792"/>
            <a:ext cx="26517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220456" y="290779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冗余度高者多分配｜至少起草最有把握前缀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772400" y="2738628"/>
            <a:ext cx="4114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509760" y="2432304"/>
            <a:ext cx="0" cy="9144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28600" y="3703320"/>
            <a:ext cx="10881360" cy="1920240"/>
          </a:xfrm>
          <a:prstGeom prst="rect">
            <a:avLst/>
          </a:prstGeom>
          <a:solidFill>
            <a:srgbClr val="F4F5F7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74320" y="3703320"/>
            <a:ext cx="1051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协同推测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解码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417320" y="3785616"/>
            <a:ext cx="406908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417320" y="382219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多节点单轮同步联合校验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1463040" y="526694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同步轮次由 k 次降为 1 次，通信等待期间完成校验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554480" y="4169664"/>
            <a:ext cx="17830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591056" y="4169664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常规自回归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T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std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 = k(t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0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 + (N−1)t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1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566160" y="4169664"/>
            <a:ext cx="1783080" cy="475488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602736" y="4169664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协同推测解码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T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co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 = k·t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0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 + (N−1)t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337560" y="4407408"/>
            <a:ext cx="2286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1554480" y="4754880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591056" y="4754880"/>
            <a:ext cx="886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草稿模型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提出 k 个候选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743200" y="4754880"/>
            <a:ext cx="5669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2779776" y="475488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节点 1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分片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401568" y="4754880"/>
            <a:ext cx="5669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438144" y="475488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节点 2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分片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059936" y="4754880"/>
            <a:ext cx="5669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096512" y="475488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718304" y="4754880"/>
            <a:ext cx="5669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754880" y="475488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节点 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分片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310128" y="4965192"/>
            <a:ext cx="9144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3968496" y="4965192"/>
            <a:ext cx="9144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4626864" y="4965192"/>
            <a:ext cx="9144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2514600" y="4965192"/>
            <a:ext cx="2286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5623560" y="3785616"/>
            <a:ext cx="324612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623560" y="38221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关键令牌识别与自适应校验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5669280" y="526694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τ∈[0,1]，τ = 0 退化为严格校验；λ 在验证集上标定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760720" y="4151376"/>
            <a:ext cx="2971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797296" y="4151376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关键令牌判定 Key(y)：H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d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/H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t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 &gt; λ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1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∨ |P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t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 − P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d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| &gt; λ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2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 ∨ S(y) &lt; λ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5760720" y="4754880"/>
            <a:ext cx="14447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5797296" y="4754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关键令牌：严格校验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数值｜实体｜控制符号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7287768" y="4754880"/>
            <a:ext cx="1444752" cy="457200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324344" y="4754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其余：融合分布接受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P̃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t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 ∝ P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t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3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1−τ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 P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d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3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τ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7246620" y="4608576"/>
            <a:ext cx="0" cy="7315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483096" y="4681728"/>
            <a:ext cx="1527048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483096" y="4681728"/>
            <a:ext cx="0" cy="7315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8010144" y="4681728"/>
            <a:ext cx="0" cy="7315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9006840" y="3785616"/>
            <a:ext cx="196596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9006840" y="38221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链路感知模式切换</a:t>
            </a:r>
            <a:endParaRPr lang="en-US" sz="1400" dirty="0"/>
          </a:p>
        </p:txBody>
      </p:sp>
      <p:sp>
        <p:nvSpPr>
          <p:cNvPr id="88" name="Text 86"/>
          <p:cNvSpPr txBox="1"/>
          <p:nvPr/>
        </p:nvSpPr>
        <p:spPr>
          <a:xfrm>
            <a:off x="9052560" y="526694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广域 / 混合硬件部署收益显著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9395460" y="4133088"/>
            <a:ext cx="1188720" cy="51206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9395460" y="413308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t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1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 ≫ t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0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 ?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9116568" y="4791456"/>
            <a:ext cx="850392" cy="420624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9153144" y="479145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协同推测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解码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10058400" y="4791456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0094976" y="4791456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常规推测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解码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9989820" y="4645152"/>
            <a:ext cx="0" cy="64008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541764" y="4709160"/>
            <a:ext cx="928116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541764" y="4709160"/>
            <a:ext cx="0" cy="82296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>
            <a:off x="10469880" y="4709160"/>
            <a:ext cx="0" cy="82296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99" name="Text 97"/>
          <p:cNvSpPr txBox="1"/>
          <p:nvPr/>
        </p:nvSpPr>
        <p:spPr>
          <a:xfrm>
            <a:off x="9189720" y="44988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是</a:t>
            </a:r>
            <a:endParaRPr lang="en-US" sz="1000" dirty="0"/>
          </a:p>
        </p:txBody>
      </p:sp>
      <p:sp>
        <p:nvSpPr>
          <p:cNvPr id="100" name="Text 98"/>
          <p:cNvSpPr txBox="1"/>
          <p:nvPr/>
        </p:nvSpPr>
        <p:spPr>
          <a:xfrm>
            <a:off x="10515600" y="44988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否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228600" y="5806440"/>
            <a:ext cx="10881360" cy="1874520"/>
          </a:xfrm>
          <a:prstGeom prst="rect">
            <a:avLst/>
          </a:prstGeom>
          <a:solidFill>
            <a:srgbClr val="F4F5F7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274320" y="5806440"/>
            <a:ext cx="1051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缓存压缩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无损校验</a:t>
            </a: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1417320" y="5888736"/>
            <a:ext cx="2514600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1417320" y="59253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统一压缩器接口</a:t>
            </a:r>
            <a:endParaRPr lang="en-US" sz="1400" dirty="0"/>
          </a:p>
        </p:txBody>
      </p:sp>
      <p:sp>
        <p:nvSpPr>
          <p:cNvPr id="105" name="Text 103"/>
          <p:cNvSpPr txBox="1"/>
          <p:nvPr/>
        </p:nvSpPr>
        <p:spPr>
          <a:xfrm>
            <a:off x="1463040" y="73243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依据显存余量与上下文需求选择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1554480" y="6272784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1591056" y="627278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令牌丢弃类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2724912" y="6272784"/>
            <a:ext cx="10698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2761488" y="6272784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KV 量化类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1554480" y="6711696"/>
            <a:ext cx="2240280" cy="274320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1591056" y="6711696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可插拔起草端接口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2103120" y="6547104"/>
            <a:ext cx="0" cy="16459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3259836" y="6547104"/>
            <a:ext cx="0" cy="16459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1554480" y="7059168"/>
            <a:ext cx="22402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1591056" y="7059168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调度｜校验｜传输流程不变</a:t>
            </a:r>
            <a:endParaRPr lang="en-US" sz="1050" dirty="0"/>
          </a:p>
        </p:txBody>
      </p:sp>
      <p:sp>
        <p:nvSpPr>
          <p:cNvPr id="116" name="Shape 114"/>
          <p:cNvSpPr/>
          <p:nvPr/>
        </p:nvSpPr>
        <p:spPr>
          <a:xfrm>
            <a:off x="4069080" y="5888736"/>
            <a:ext cx="4526280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4069080" y="59253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压缩缓存起草与完整缓存校验交错执行</a:t>
            </a:r>
            <a:endParaRPr lang="en-US" sz="1400" dirty="0"/>
          </a:p>
        </p:txBody>
      </p:sp>
      <p:sp>
        <p:nvSpPr>
          <p:cNvPr id="118" name="Text 116"/>
          <p:cNvSpPr txBox="1"/>
          <p:nvPr/>
        </p:nvSpPr>
        <p:spPr>
          <a:xfrm>
            <a:off x="4114800" y="732434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起草与换入占用不同资源，重叠执行；输出与完整缓存解码一致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4206240" y="6272784"/>
            <a:ext cx="13258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4242816" y="6272784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边缘侧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压缩 KV 缓存</a:t>
            </a:r>
            <a:endParaRPr lang="en-US" sz="1050" dirty="0"/>
          </a:p>
        </p:txBody>
      </p:sp>
      <p:sp>
        <p:nvSpPr>
          <p:cNvPr id="121" name="Shape 119"/>
          <p:cNvSpPr/>
          <p:nvPr/>
        </p:nvSpPr>
        <p:spPr>
          <a:xfrm>
            <a:off x="5760720" y="6272784"/>
            <a:ext cx="13258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5797296" y="6272784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快速起草候选令牌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显存带宽受限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4206240" y="6803136"/>
            <a:ext cx="13258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4242816" y="6803136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完整 KV 缓存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边缘服务器 / 云端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5760720" y="6803136"/>
            <a:ext cx="13258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5797296" y="6803136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完整缓存换入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PCIe / 网络带宽受限</a:t>
            </a:r>
            <a:endParaRPr lang="en-US" sz="1050" dirty="0"/>
          </a:p>
        </p:txBody>
      </p:sp>
      <p:sp>
        <p:nvSpPr>
          <p:cNvPr id="127" name="Shape 125"/>
          <p:cNvSpPr/>
          <p:nvPr/>
        </p:nvSpPr>
        <p:spPr>
          <a:xfrm>
            <a:off x="7296912" y="6272784"/>
            <a:ext cx="1161288" cy="932688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7333488" y="6272784"/>
            <a:ext cx="10881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校验端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对照完整缓存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验证候选令牌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5532120" y="6473952"/>
            <a:ext cx="2286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30" name="Shape 128"/>
          <p:cNvSpPr/>
          <p:nvPr/>
        </p:nvSpPr>
        <p:spPr>
          <a:xfrm>
            <a:off x="5532120" y="7004304"/>
            <a:ext cx="2286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31" name="Shape 129"/>
          <p:cNvSpPr/>
          <p:nvPr/>
        </p:nvSpPr>
        <p:spPr>
          <a:xfrm>
            <a:off x="7086600" y="6473952"/>
            <a:ext cx="2103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32" name="Shape 130"/>
          <p:cNvSpPr/>
          <p:nvPr/>
        </p:nvSpPr>
        <p:spPr>
          <a:xfrm>
            <a:off x="7086600" y="7004304"/>
            <a:ext cx="2103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33" name="Shape 131"/>
          <p:cNvSpPr/>
          <p:nvPr/>
        </p:nvSpPr>
        <p:spPr>
          <a:xfrm>
            <a:off x="8732520" y="5888736"/>
            <a:ext cx="2240280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8732520" y="59253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窗口自适应与前缀复用</a:t>
            </a:r>
            <a:endParaRPr lang="en-US" sz="1400" dirty="0"/>
          </a:p>
        </p:txBody>
      </p:sp>
      <p:sp>
        <p:nvSpPr>
          <p:cNvPr id="135" name="Text 133"/>
          <p:cNvSpPr txBox="1"/>
          <p:nvPr/>
        </p:nvSpPr>
        <p:spPr>
          <a:xfrm>
            <a:off x="8778240" y="73243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减少重复预填充与缓存传输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8869680" y="6272784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8906256" y="6272784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起草窗口 γ 动态调整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依据接受长度与换入耗时</a:t>
            </a:r>
            <a:endParaRPr lang="en-US" sz="1050" dirty="0"/>
          </a:p>
        </p:txBody>
      </p:sp>
      <p:sp>
        <p:nvSpPr>
          <p:cNvPr id="138" name="Shape 136"/>
          <p:cNvSpPr/>
          <p:nvPr/>
        </p:nvSpPr>
        <p:spPr>
          <a:xfrm>
            <a:off x="8869680" y="6803136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8906256" y="6803136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远程前缀缓存复用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云端完整｜边缘压缩</a:t>
            </a:r>
            <a:endParaRPr lang="en-US" sz="1050" dirty="0"/>
          </a:p>
        </p:txBody>
      </p:sp>
      <p:sp>
        <p:nvSpPr>
          <p:cNvPr id="140" name="Shape 138"/>
          <p:cNvSpPr/>
          <p:nvPr/>
        </p:nvSpPr>
        <p:spPr>
          <a:xfrm>
            <a:off x="8458200" y="6473952"/>
            <a:ext cx="4114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1" name="Shape 139"/>
          <p:cNvSpPr/>
          <p:nvPr/>
        </p:nvSpPr>
        <p:spPr>
          <a:xfrm>
            <a:off x="228600" y="7863840"/>
            <a:ext cx="10881360" cy="1463040"/>
          </a:xfrm>
          <a:prstGeom prst="rect">
            <a:avLst/>
          </a:prstGeom>
          <a:solidFill>
            <a:srgbClr val="F4F5F7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274320" y="7863840"/>
            <a:ext cx="1051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负载与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部署约束</a:t>
            </a:r>
            <a:endParaRPr lang="en-US" sz="1600" dirty="0"/>
          </a:p>
        </p:txBody>
      </p:sp>
      <p:sp>
        <p:nvSpPr>
          <p:cNvPr id="143" name="Shape 141"/>
          <p:cNvSpPr/>
          <p:nvPr/>
        </p:nvSpPr>
        <p:spPr>
          <a:xfrm>
            <a:off x="1417320" y="7946136"/>
            <a:ext cx="26517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1417320" y="7982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推理负载来源</a:t>
            </a:r>
            <a:endParaRPr lang="en-US" sz="1400" dirty="0"/>
          </a:p>
        </p:txBody>
      </p:sp>
      <p:sp>
        <p:nvSpPr>
          <p:cNvPr id="145" name="Shape 143"/>
          <p:cNvSpPr/>
          <p:nvPr/>
        </p:nvSpPr>
        <p:spPr>
          <a:xfrm>
            <a:off x="1554480" y="8302752"/>
            <a:ext cx="23774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1591056" y="8302752"/>
            <a:ext cx="2304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长上下文：背景知识｜历史上下文</a:t>
            </a:r>
            <a:endParaRPr lang="en-US" sz="1050" dirty="0"/>
          </a:p>
        </p:txBody>
      </p:sp>
      <p:sp>
        <p:nvSpPr>
          <p:cNvPr id="147" name="Shape 145"/>
          <p:cNvSpPr/>
          <p:nvPr/>
        </p:nvSpPr>
        <p:spPr>
          <a:xfrm>
            <a:off x="1554480" y="8604504"/>
            <a:ext cx="23774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1591056" y="8604504"/>
            <a:ext cx="2304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多轮智能体调用（课题 4）</a:t>
            </a:r>
            <a:endParaRPr lang="en-US" sz="1050" dirty="0"/>
          </a:p>
        </p:txBody>
      </p:sp>
      <p:sp>
        <p:nvSpPr>
          <p:cNvPr id="149" name="Shape 147"/>
          <p:cNvSpPr/>
          <p:nvPr/>
        </p:nvSpPr>
        <p:spPr>
          <a:xfrm>
            <a:off x="1554480" y="8906256"/>
            <a:ext cx="23774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1591056" y="8906256"/>
            <a:ext cx="2304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并发请求：批量规模 b</a:t>
            </a:r>
            <a:endParaRPr lang="en-US" sz="1050" dirty="0"/>
          </a:p>
        </p:txBody>
      </p:sp>
      <p:sp>
        <p:nvSpPr>
          <p:cNvPr id="151" name="Shape 149"/>
          <p:cNvSpPr/>
          <p:nvPr/>
        </p:nvSpPr>
        <p:spPr>
          <a:xfrm>
            <a:off x="4206240" y="7946136"/>
            <a:ext cx="34747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4206240" y="79827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边缘推理瓶颈</a:t>
            </a:r>
            <a:endParaRPr lang="en-US" sz="1400" dirty="0"/>
          </a:p>
        </p:txBody>
      </p:sp>
      <p:sp>
        <p:nvSpPr>
          <p:cNvPr id="153" name="Shape 151"/>
          <p:cNvSpPr/>
          <p:nvPr/>
        </p:nvSpPr>
        <p:spPr>
          <a:xfrm>
            <a:off x="4343400" y="8302752"/>
            <a:ext cx="320040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4379976" y="8302752"/>
            <a:ext cx="3127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① KV 缓存随上下文增长，显存与带宽受限</a:t>
            </a:r>
            <a:endParaRPr lang="en-US" sz="1050" dirty="0"/>
          </a:p>
        </p:txBody>
      </p:sp>
      <p:sp>
        <p:nvSpPr>
          <p:cNvPr id="155" name="Shape 153"/>
          <p:cNvSpPr/>
          <p:nvPr/>
        </p:nvSpPr>
        <p:spPr>
          <a:xfrm>
            <a:off x="4343400" y="8604504"/>
            <a:ext cx="320040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4379976" y="8604504"/>
            <a:ext cx="3127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② 分片部署逐令牌跨节点同步，通信占主导</a:t>
            </a:r>
            <a:endParaRPr lang="en-US" sz="1050" dirty="0"/>
          </a:p>
        </p:txBody>
      </p:sp>
      <p:sp>
        <p:nvSpPr>
          <p:cNvPr id="157" name="Shape 155"/>
          <p:cNvSpPr/>
          <p:nvPr/>
        </p:nvSpPr>
        <p:spPr>
          <a:xfrm>
            <a:off x="4343400" y="8906256"/>
            <a:ext cx="320040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4379976" y="8906256"/>
            <a:ext cx="3127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③ 批量增大后拒绝率高，校验开销抵消收益</a:t>
            </a:r>
            <a:endParaRPr lang="en-US" sz="1050" dirty="0"/>
          </a:p>
        </p:txBody>
      </p:sp>
      <p:sp>
        <p:nvSpPr>
          <p:cNvPr id="159" name="Shape 157"/>
          <p:cNvSpPr/>
          <p:nvPr/>
        </p:nvSpPr>
        <p:spPr>
          <a:xfrm>
            <a:off x="7818120" y="7946136"/>
            <a:ext cx="315468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7818120" y="79827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边缘分布式部署</a:t>
            </a:r>
            <a:endParaRPr lang="en-US" sz="1400" dirty="0"/>
          </a:p>
        </p:txBody>
      </p:sp>
      <p:sp>
        <p:nvSpPr>
          <p:cNvPr id="161" name="Shape 159"/>
          <p:cNvSpPr/>
          <p:nvPr/>
        </p:nvSpPr>
        <p:spPr>
          <a:xfrm>
            <a:off x="8129016" y="8284464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211312" y="8357616"/>
            <a:ext cx="128016" cy="10972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208008" y="8275320"/>
            <a:ext cx="365760" cy="82296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482328" y="8298180"/>
            <a:ext cx="36576" cy="365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65" name="Shape 163"/>
          <p:cNvSpPr/>
          <p:nvPr/>
        </p:nvSpPr>
        <p:spPr>
          <a:xfrm>
            <a:off x="9208008" y="8366760"/>
            <a:ext cx="365760" cy="82296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482328" y="8389620"/>
            <a:ext cx="36576" cy="365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67" name="Shape 165"/>
          <p:cNvSpPr/>
          <p:nvPr/>
        </p:nvSpPr>
        <p:spPr>
          <a:xfrm>
            <a:off x="9208008" y="8458200"/>
            <a:ext cx="365760" cy="82296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482328" y="8481060"/>
            <a:ext cx="36576" cy="36576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69" name="Shape 167"/>
          <p:cNvSpPr/>
          <p:nvPr/>
        </p:nvSpPr>
        <p:spPr>
          <a:xfrm>
            <a:off x="10296144" y="8275320"/>
            <a:ext cx="438912" cy="274320"/>
          </a:xfrm>
          <a:prstGeom prst="cloud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485632" y="8412480"/>
            <a:ext cx="658368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</p:sp>
      <p:sp>
        <p:nvSpPr>
          <p:cNvPr id="171" name="Shape 169"/>
          <p:cNvSpPr/>
          <p:nvPr/>
        </p:nvSpPr>
        <p:spPr>
          <a:xfrm>
            <a:off x="9637776" y="8412480"/>
            <a:ext cx="630936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</p:sp>
      <p:sp>
        <p:nvSpPr>
          <p:cNvPr id="172" name="Text 170"/>
          <p:cNvSpPr txBox="1"/>
          <p:nvPr/>
        </p:nvSpPr>
        <p:spPr>
          <a:xfrm>
            <a:off x="8549640" y="822960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t</a:t>
            </a:r>
            <a:pPr algn="ctr" indent="0" marL="0">
              <a:lnSpc>
                <a:spcPct val="105000"/>
              </a:lnSpc>
              <a:buNone/>
            </a:pPr>
            <a:r>
              <a:rPr lang="en-US" sz="900" baseline="-40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1</a:t>
            </a:r>
            <a:endParaRPr lang="en-US" sz="900" dirty="0"/>
          </a:p>
        </p:txBody>
      </p:sp>
      <p:sp>
        <p:nvSpPr>
          <p:cNvPr id="173" name="Text 171"/>
          <p:cNvSpPr txBox="1"/>
          <p:nvPr/>
        </p:nvSpPr>
        <p:spPr>
          <a:xfrm>
            <a:off x="9692640" y="822960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t</a:t>
            </a:r>
            <a:pPr algn="ctr" indent="0" marL="0">
              <a:lnSpc>
                <a:spcPct val="105000"/>
              </a:lnSpc>
              <a:buNone/>
            </a:pPr>
            <a:r>
              <a:rPr lang="en-US" sz="900" baseline="-40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1</a:t>
            </a:r>
            <a:endParaRPr lang="en-US" sz="900" dirty="0"/>
          </a:p>
        </p:txBody>
      </p:sp>
      <p:sp>
        <p:nvSpPr>
          <p:cNvPr id="174" name="Text 172"/>
          <p:cNvSpPr txBox="1"/>
          <p:nvPr/>
        </p:nvSpPr>
        <p:spPr>
          <a:xfrm>
            <a:off x="7955280" y="85679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边缘设备</a:t>
            </a:r>
            <a:endParaRPr lang="en-US" sz="950" dirty="0"/>
          </a:p>
        </p:txBody>
      </p:sp>
      <p:sp>
        <p:nvSpPr>
          <p:cNvPr id="175" name="Text 173"/>
          <p:cNvSpPr txBox="1"/>
          <p:nvPr/>
        </p:nvSpPr>
        <p:spPr>
          <a:xfrm>
            <a:off x="9025128" y="85679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边缘服务器</a:t>
            </a:r>
            <a:endParaRPr lang="en-US" sz="950" dirty="0"/>
          </a:p>
        </p:txBody>
      </p:sp>
      <p:sp>
        <p:nvSpPr>
          <p:cNvPr id="176" name="Text 174"/>
          <p:cNvSpPr txBox="1"/>
          <p:nvPr/>
        </p:nvSpPr>
        <p:spPr>
          <a:xfrm>
            <a:off x="10241280" y="85679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云端</a:t>
            </a:r>
            <a:endParaRPr lang="en-US" sz="950" dirty="0"/>
          </a:p>
        </p:txBody>
      </p:sp>
      <p:sp>
        <p:nvSpPr>
          <p:cNvPr id="177" name="Shape 175"/>
          <p:cNvSpPr/>
          <p:nvPr/>
        </p:nvSpPr>
        <p:spPr>
          <a:xfrm>
            <a:off x="7955280" y="8869680"/>
            <a:ext cx="2880360" cy="274320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7991856" y="886968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研究内容（1）：节点与链路状态 N｜t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0</a:t>
            </a:r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｜t</a:t>
            </a:r>
            <a:pPr algn="ctr" indent="0" marL="0">
              <a:lnSpc>
                <a:spcPct val="105000"/>
              </a:lnSpc>
              <a:buNone/>
            </a:pPr>
            <a:r>
              <a:rPr lang="en-US" sz="1050" baseline="-40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179" name="Shape 177"/>
          <p:cNvSpPr/>
          <p:nvPr/>
        </p:nvSpPr>
        <p:spPr>
          <a:xfrm flipV="1">
            <a:off x="2743200" y="7598664"/>
            <a:ext cx="0" cy="34747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80" name="Shape 178"/>
          <p:cNvSpPr/>
          <p:nvPr/>
        </p:nvSpPr>
        <p:spPr>
          <a:xfrm flipV="1">
            <a:off x="5943600" y="7598664"/>
            <a:ext cx="0" cy="34747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81" name="Shape 179"/>
          <p:cNvSpPr/>
          <p:nvPr/>
        </p:nvSpPr>
        <p:spPr>
          <a:xfrm flipV="1">
            <a:off x="1783080" y="5175504"/>
            <a:ext cx="0" cy="71323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82" name="Text 180"/>
          <p:cNvSpPr txBox="1"/>
          <p:nvPr/>
        </p:nvSpPr>
        <p:spPr>
          <a:xfrm>
            <a:off x="1847088" y="56052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压缩缓存作为起草源</a:t>
            </a:r>
            <a:endParaRPr lang="en-US" sz="1000" dirty="0"/>
          </a:p>
        </p:txBody>
      </p:sp>
      <p:sp>
        <p:nvSpPr>
          <p:cNvPr id="183" name="Shape 181"/>
          <p:cNvSpPr/>
          <p:nvPr/>
        </p:nvSpPr>
        <p:spPr>
          <a:xfrm>
            <a:off x="10835640" y="9006840"/>
            <a:ext cx="2103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flipV="1">
            <a:off x="11045952" y="4389120"/>
            <a:ext cx="0" cy="461772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flipH="1">
            <a:off x="10584180" y="4389120"/>
            <a:ext cx="46177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86" name="Text 184"/>
          <p:cNvSpPr txBox="1"/>
          <p:nvPr/>
        </p:nvSpPr>
        <p:spPr>
          <a:xfrm>
            <a:off x="9966960" y="560527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链路状态</a:t>
            </a:r>
            <a:endParaRPr lang="en-US" sz="1000" dirty="0"/>
          </a:p>
        </p:txBody>
      </p:sp>
      <p:sp>
        <p:nvSpPr>
          <p:cNvPr id="187" name="Shape 185"/>
          <p:cNvSpPr/>
          <p:nvPr/>
        </p:nvSpPr>
        <p:spPr>
          <a:xfrm flipV="1">
            <a:off x="7223760" y="5541264"/>
            <a:ext cx="0" cy="34747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88" name="Shape 186"/>
          <p:cNvSpPr/>
          <p:nvPr/>
        </p:nvSpPr>
        <p:spPr>
          <a:xfrm flipV="1">
            <a:off x="3474720" y="3438144"/>
            <a:ext cx="0" cy="34747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89" name="Shape 187"/>
          <p:cNvSpPr/>
          <p:nvPr/>
        </p:nvSpPr>
        <p:spPr>
          <a:xfrm flipV="1">
            <a:off x="2903220" y="1380744"/>
            <a:ext cx="0" cy="39319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90" name="Shape 188"/>
          <p:cNvSpPr/>
          <p:nvPr/>
        </p:nvSpPr>
        <p:spPr>
          <a:xfrm flipV="1">
            <a:off x="6103620" y="1380744"/>
            <a:ext cx="0" cy="39319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91" name="Shape 189"/>
          <p:cNvSpPr/>
          <p:nvPr/>
        </p:nvSpPr>
        <p:spPr>
          <a:xfrm flipV="1">
            <a:off x="9395460" y="1380744"/>
            <a:ext cx="0" cy="39319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2026-09-28T01:55:18Z</dcterms:created>
  <dcterms:modified xsi:type="dcterms:W3CDTF">2026-09-28T01:55:18Z</dcterms:modified>
</cp:coreProperties>
</file>